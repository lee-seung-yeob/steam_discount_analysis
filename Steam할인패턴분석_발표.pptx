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58" r:id="rId4"/>
    <p:sldId id="259" r:id="rId5"/>
    <p:sldId id="260" r:id="rId6"/>
    <p:sldId id="27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38D"/>
    <a:srgbClr val="106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49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9C57A-9048-40AE-8441-94C7AF21FBBF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C3E79-DB3F-440F-B64E-5F3D1CE001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24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C3E79-DB3F-440F-B64E-5F3D1CE0010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6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C3E79-DB3F-440F-B64E-5F3D1CE0010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5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C3E79-DB3F-440F-B64E-5F3D1CE0010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77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1371600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DBEAEB"/>
                </a:solidFill>
                <a:latin typeface="Pretendard JP SemiBold"/>
              </a:rPr>
              <a:t>BIG DATA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Pretendard JP SemiBold"/>
              </a:rPr>
              <a:t>STEAM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94944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Pretendard JP SemiBold"/>
              </a:rPr>
              <a:t>DISCOUNT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822960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Pretendard JP SemiBold"/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9692640"/>
            <a:ext cx="1371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502920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0687C"/>
                </a:solidFill>
                <a:latin typeface="Pretendard"/>
              </a:rPr>
              <a:t>빅데이터 프로젝트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669280"/>
            <a:ext cx="14630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Pretendard"/>
              </a:rPr>
              <a:t>Steam 게임 가격 할인 패턴 분석을 통한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766560"/>
            <a:ext cx="14630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Pretendard"/>
              </a:rPr>
              <a:t>장르별 할인 효과 차이 연구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8229600"/>
            <a:ext cx="548640" cy="54864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0332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0687C"/>
                </a:solidFill>
                <a:latin typeface="Pretendard"/>
              </a:rPr>
              <a:t>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0698480"/>
            <a:ext cx="1463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0" dirty="0">
                <a:solidFill>
                  <a:srgbClr val="1A1A1A"/>
                </a:solidFill>
                <a:latin typeface="Pretendard"/>
              </a:rPr>
              <a:t>602677113 </a:t>
            </a:r>
            <a:r>
              <a:rPr lang="ko-KR" altLang="en-US" sz="1800" b="0" dirty="0">
                <a:solidFill>
                  <a:srgbClr val="1A1A1A"/>
                </a:solidFill>
                <a:latin typeface="Pretendard"/>
              </a:rPr>
              <a:t>이동민 </a:t>
            </a:r>
            <a:r>
              <a:rPr sz="18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en-US" sz="1800" b="0" dirty="0">
                <a:solidFill>
                  <a:srgbClr val="1A1A1A"/>
                </a:solidFill>
                <a:latin typeface="Pretendard"/>
              </a:rPr>
              <a:t>602677115 </a:t>
            </a:r>
            <a:r>
              <a:rPr lang="ko-KR" altLang="en-US" sz="1800" b="0" dirty="0">
                <a:solidFill>
                  <a:srgbClr val="1A1A1A"/>
                </a:solidFill>
                <a:latin typeface="Pretendard"/>
              </a:rPr>
              <a:t>이승엽</a:t>
            </a:r>
            <a:endParaRPr sz="1800" b="0" dirty="0">
              <a:solidFill>
                <a:srgbClr val="1A1A1A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CONTENTS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71600" y="3200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00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20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A1A1A"/>
                </a:solidFill>
                <a:latin typeface="Pretendard"/>
              </a:rPr>
              <a:t>연구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배경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및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동기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80" y="4206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595959"/>
                </a:solidFill>
                <a:latin typeface="Pretendard"/>
              </a:rPr>
              <a:t>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0" y="3200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344400" y="3200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0" y="3566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0" y="3520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A1A1A"/>
                </a:solidFill>
                <a:latin typeface="Pretendard"/>
              </a:rPr>
              <a:t>연구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목표와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핵심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질문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56080" y="4206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595959"/>
                </a:solidFill>
                <a:latin typeface="Pretendard"/>
              </a:rPr>
              <a:t>Research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486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0" y="5486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5852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806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A1A1A"/>
                </a:solidFill>
                <a:latin typeface="Pretendard"/>
              </a:rPr>
              <a:t>차별화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요소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83280" y="6492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595959"/>
                </a:solidFill>
                <a:latin typeface="Pretendard"/>
              </a:rPr>
              <a:t>Differentiation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0" y="5486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344400" y="5486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0" y="5852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0" y="5806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A1A1A"/>
                </a:solidFill>
                <a:latin typeface="Pretendard"/>
              </a:rPr>
              <a:t>최종 기대 결과물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356080" y="6492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595959"/>
                </a:solidFill>
                <a:latin typeface="Pretendard"/>
              </a:rPr>
              <a:t>Expected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7772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71600" y="7772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8138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8092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A1A1A"/>
                </a:solidFill>
                <a:latin typeface="Pretendard"/>
              </a:rPr>
              <a:t>진행 방법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83280" y="8778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595959"/>
                </a:solidFill>
                <a:latin typeface="Pretendard"/>
              </a:rPr>
              <a:t>Methodology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0" y="7772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2344400" y="7772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0" y="8138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0" y="8092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A1A1A"/>
                </a:solidFill>
                <a:latin typeface="Pretendard"/>
              </a:rPr>
              <a:t>구성원 </a:t>
            </a:r>
            <a:r>
              <a:rPr lang="en-US" altLang="ko-KR" sz="2800" b="1" dirty="0">
                <a:solidFill>
                  <a:srgbClr val="1A1A1A"/>
                </a:solidFill>
                <a:latin typeface="Pretendard"/>
              </a:rPr>
              <a:t>R&amp;R </a:t>
            </a:r>
            <a:r>
              <a:rPr lang="ko-KR" altLang="en-US" sz="2800" b="1" dirty="0">
                <a:solidFill>
                  <a:srgbClr val="1A1A1A"/>
                </a:solidFill>
                <a:latin typeface="Pretendard"/>
              </a:rPr>
              <a:t>및 스케쥴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356080" y="8778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/>
              <a:t>Team &amp; Timeline</a:t>
            </a:r>
            <a:endParaRPr sz="1400"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371600" y="10058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71600" y="10058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10424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1037844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A1A1A"/>
                </a:solidFill>
                <a:latin typeface="Pretendard"/>
              </a:rPr>
              <a:t>단계별 결과물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83280" y="11064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595959"/>
                </a:solidFill>
                <a:latin typeface="Pretendard"/>
              </a:rPr>
              <a:t>Results by Stage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44400" y="10058400"/>
            <a:ext cx="10515600" cy="1783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2344400" y="10058400"/>
            <a:ext cx="109728" cy="1783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801600" y="10424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 JP SemiBold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56080" y="10378440"/>
            <a:ext cx="8229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3200" b="1" dirty="0">
                <a:solidFill>
                  <a:srgbClr val="1A1A1A"/>
                </a:solidFill>
                <a:latin typeface="Pretendard"/>
              </a:rPr>
              <a:t>한계 및 </a:t>
            </a:r>
            <a:r>
              <a:rPr lang="en-US" altLang="ko-KR" sz="3200" b="1" dirty="0">
                <a:solidFill>
                  <a:srgbClr val="1A1A1A"/>
                </a:solidFill>
                <a:latin typeface="Pretendard"/>
              </a:rPr>
              <a:t>Output </a:t>
            </a:r>
            <a:r>
              <a:rPr lang="ko-KR" altLang="en-US" sz="3200" b="1" dirty="0">
                <a:solidFill>
                  <a:srgbClr val="1A1A1A"/>
                </a:solidFill>
                <a:latin typeface="Pretendard"/>
              </a:rPr>
              <a:t>활용 방안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356080" y="110642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595959"/>
                </a:solidFill>
                <a:latin typeface="Pretendard"/>
              </a:rPr>
              <a:t>Limitations &amp; Application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연구 배경 및 동기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MOTIVATION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0687C"/>
                </a:solidFill>
                <a:latin typeface="Pretendard"/>
              </a:rPr>
              <a:t>문제 제기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515600" cy="7498079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14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2044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A1A1A"/>
                </a:solidFill>
                <a:latin typeface="Pretendard"/>
              </a:rPr>
              <a:t>Steam은</a:t>
            </a:r>
            <a:r>
              <a:rPr sz="24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Pretendard"/>
              </a:rPr>
              <a:t>연중</a:t>
            </a:r>
            <a:r>
              <a:rPr sz="24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Pretendard"/>
              </a:rPr>
              <a:t>끊임없이</a:t>
            </a:r>
            <a:r>
              <a:rPr sz="24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Pretendard"/>
              </a:rPr>
              <a:t>할인을</a:t>
            </a:r>
            <a:r>
              <a:rPr sz="24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Pretendard"/>
              </a:rPr>
              <a:t>진행한다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4297680"/>
            <a:ext cx="8686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여름·가을·겨울 시즌 세일, 퍼블리셔 위크,</a:t>
            </a:r>
          </a:p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프랜차이즈 세일 등 다양한 행사가 상시 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97880"/>
            <a:ext cx="914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89788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통념: "할인율이 높을수록 효과 비례 증가"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6675120"/>
            <a:ext cx="8686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마케팅 직관과 일반 소비자 인식 모두</a:t>
            </a:r>
          </a:p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할인율과 효과를 단순 비례로 가정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8275320"/>
            <a:ext cx="914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827532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그러나 정말 모든 게임에 똑같이 통할까?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9052560"/>
            <a:ext cx="8686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스토리·경쟁·샌드박스 등 게임 성격이 다르면</a:t>
            </a:r>
          </a:p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할인에 대한 사용자 반응도 다를 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2560320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본 연구의 가설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0" y="3200400"/>
            <a:ext cx="10515600" cy="40233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2801600" y="352044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DBEAEB"/>
                </a:solidFill>
                <a:latin typeface="Pretendard JP SemiBold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0" y="4069080"/>
            <a:ext cx="100584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FFFFFF"/>
                </a:solidFill>
                <a:latin typeface="Pretendard"/>
              </a:rPr>
              <a:t>스토리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중심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게임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경쟁형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멀티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게임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,</a:t>
            </a:r>
          </a:p>
          <a:p>
            <a:pPr algn="l"/>
            <a:r>
              <a:rPr sz="2000" b="0" dirty="0" err="1">
                <a:solidFill>
                  <a:srgbClr val="FFFFFF"/>
                </a:solidFill>
                <a:latin typeface="Pretendard"/>
              </a:rPr>
              <a:t>샌드박스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게임은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플레이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목적과</a:t>
            </a:r>
            <a:endParaRPr sz="2000" b="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sz="2000" b="0" dirty="0" err="1">
                <a:solidFill>
                  <a:srgbClr val="FFFFFF"/>
                </a:solidFill>
                <a:latin typeface="Pretendard"/>
              </a:rPr>
              <a:t>소비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방식이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근본적으로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다르다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.</a:t>
            </a:r>
          </a:p>
          <a:p>
            <a:pPr algn="l"/>
            <a:endParaRPr sz="2000" b="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sz="2000" b="0" dirty="0" err="1">
                <a:solidFill>
                  <a:srgbClr val="FFFFFF"/>
                </a:solidFill>
                <a:latin typeface="Pretendard"/>
              </a:rPr>
              <a:t>같은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할인율이라도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장르마다</a:t>
            </a:r>
            <a:endParaRPr sz="2000" b="0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sz="2000" b="0" dirty="0" err="1">
                <a:solidFill>
                  <a:srgbClr val="FFFFFF"/>
                </a:solidFill>
                <a:latin typeface="Pretendard"/>
              </a:rPr>
              <a:t>사용자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반응이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다를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Pretendard"/>
              </a:rPr>
              <a:t>것이다</a:t>
            </a:r>
            <a:r>
              <a:rPr sz="2000" b="0" dirty="0">
                <a:solidFill>
                  <a:srgbClr val="FFFFFF"/>
                </a:solidFill>
                <a:latin typeface="Pretendar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0" y="7680960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연구 의의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0" y="8321040"/>
            <a:ext cx="10515600" cy="237744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12801600" y="859536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10687C"/>
                </a:solidFill>
                <a:latin typeface="Pretendard JP SemiBold"/>
              </a:rPr>
              <a:t>RESEARCH SIGNIFICANCE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0" y="9144000"/>
            <a:ext cx="10058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단순 "할인하면 좋다"가 아닌</a:t>
            </a:r>
          </a:p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"어떤 장르에 어떤 할인 전략이 효과적인가"에 답한다.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7531C1-F8F8-B23E-2F2C-0A462541BC66}"/>
              </a:ext>
            </a:extLst>
          </p:cNvPr>
          <p:cNvSpPr/>
          <p:nvPr/>
        </p:nvSpPr>
        <p:spPr>
          <a:xfrm>
            <a:off x="-451731" y="11463337"/>
            <a:ext cx="19441190" cy="86867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연구 목표와 핵심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GOAL &amp; RESEARCH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프로젝트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21945600" cy="146304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21031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21031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장르별 할인 효과 차이를 정량적으로 분석하여, 실제로 활용 가능한 할인 전략 인사이트를 도출한다.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2194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0687C"/>
                </a:solidFill>
                <a:latin typeface="Pretendard"/>
              </a:rPr>
              <a:t>4가지 핵심 연구 질문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852160"/>
            <a:ext cx="5349240" cy="6766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914400" y="585216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280160" y="6263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0687C"/>
                </a:solidFill>
                <a:latin typeface="Pretendard JP SemiBold"/>
              </a:rPr>
              <a:t>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768096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할인율 ↔ 효과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841248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280160" y="8595360"/>
            <a:ext cx="475488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할인율이 높을수록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사용자 관심도도 반드시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비례해서 커지는가?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852160"/>
            <a:ext cx="5349240" cy="6766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6400800" y="585216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6766560" y="6263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0687C"/>
                </a:solidFill>
                <a:latin typeface="Pretendard JP SemiBold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768096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장르별 차이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841248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766560" y="8595360"/>
            <a:ext cx="475488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같은 할인율이어도 장르에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따라 관심도 변화에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차이가 존재하는가?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5852160"/>
            <a:ext cx="5349240" cy="6766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1887200" y="585216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252960" y="6263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0687C"/>
                </a:solidFill>
                <a:latin typeface="Pretendard JP SemiBold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768096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지속 효과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52960" y="841248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12252960" y="8595360"/>
            <a:ext cx="475488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할인 직후 반응은 크지만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할인 종료 후 유지 효과가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약한 장르가 있는가?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0" y="5852160"/>
            <a:ext cx="5349240" cy="6766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ectangle 31"/>
          <p:cNvSpPr/>
          <p:nvPr/>
        </p:nvSpPr>
        <p:spPr>
          <a:xfrm>
            <a:off x="17373600" y="585216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7739360" y="6263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0687C"/>
                </a:solidFill>
                <a:latin typeface="Pretendard JP SemiBold"/>
              </a:rPr>
              <a:t>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9360" y="768096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할인 빈도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739360" y="841248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7739360" y="8595360"/>
            <a:ext cx="475488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자주 할인하는 게임과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가끔 할인하는 게임의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반응 패턴은 다른가?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차별화 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DIFFERENTIATION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기존 서비스의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515600" cy="86868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 JP SemiBold"/>
              </a:rPr>
              <a:t>EXISTING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Pretendard"/>
              </a:rPr>
              <a:t>SteamDB · IsThereAnyDeal 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94960"/>
            <a:ext cx="548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440680"/>
            <a:ext cx="9144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Pretendard"/>
              </a:rPr>
              <a:t>개별 게임의 가격 변동 이력만 보여줌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812280"/>
            <a:ext cx="548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6858000"/>
            <a:ext cx="9144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Pretendard"/>
              </a:rPr>
              <a:t>사용자가 한 게임씩 직접 검색해야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8229600"/>
            <a:ext cx="548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8275320"/>
            <a:ext cx="9144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Pretendard"/>
              </a:rPr>
              <a:t>할인의 "효과"가 아닌 "정보"에만 초점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9646920"/>
            <a:ext cx="5486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9692640"/>
            <a:ext cx="9144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Pretendard"/>
              </a:rPr>
              <a:t>시장 전체 패턴이나 장르 차이는 알 수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256032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본 프로젝트의 차별점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0" y="3200400"/>
            <a:ext cx="10515600" cy="19659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12344400" y="3200400"/>
            <a:ext cx="109728" cy="19659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2710160" y="356616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0" y="356616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할인 정보가 아닌 할인 효과를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0" y="425196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가격 변동이 사용자 활동에 미치는 영향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0" y="5394960"/>
            <a:ext cx="10515600" cy="19659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ectangle 26"/>
          <p:cNvSpPr/>
          <p:nvPr/>
        </p:nvSpPr>
        <p:spPr>
          <a:xfrm>
            <a:off x="12344400" y="5394960"/>
            <a:ext cx="109728" cy="19659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12710160" y="576072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0" y="576072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개별 게임이 아닌 장르 단위로 본다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0" y="644652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시장 전체 패턴 도출 → 일반화 가능한 결론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344400" y="7589520"/>
            <a:ext cx="10515600" cy="19659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ectangle 31"/>
          <p:cNvSpPr/>
          <p:nvPr/>
        </p:nvSpPr>
        <p:spPr>
          <a:xfrm>
            <a:off x="12344400" y="7589520"/>
            <a:ext cx="109728" cy="19659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12710160" y="795528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0" y="795528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"어떻게 할인해야 하는가"에 답한다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0" y="864108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단순 효과가 아닌 전략적 인사이트 지향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44400" y="9784080"/>
            <a:ext cx="10515600" cy="19659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/>
          <p:cNvSpPr/>
          <p:nvPr/>
        </p:nvSpPr>
        <p:spPr>
          <a:xfrm>
            <a:off x="12344400" y="9784080"/>
            <a:ext cx="109728" cy="19659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2710160" y="1014984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0" y="1014984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즉시 효과 + 유지 효과 분리 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0" y="1083564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할인 종료 후 잔존 효과까지 추적, 단발/지속 구분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585680" y="13167360"/>
            <a:ext cx="914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10687C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최종 기대 결과물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EXPECTED OUTPUTS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산출물 5종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42976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42976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80160" y="3520440"/>
            <a:ext cx="365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5720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1280160" y="4754880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Pretendard"/>
              </a:rPr>
              <a:t>프로젝트 발표용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667512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본 발표 자료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200400"/>
            <a:ext cx="42976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5349240" y="3200400"/>
            <a:ext cx="42976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715000" y="3520440"/>
            <a:ext cx="365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45720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5715000" y="4754880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Pretendard"/>
              </a:rPr>
              <a:t>장르별 할인 반응 비교 시각화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67512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7개 차트 (PNG)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200400"/>
            <a:ext cx="42976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9784080" y="3200400"/>
            <a:ext cx="42976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10149840" y="3520440"/>
            <a:ext cx="365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45720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10149840" y="4754880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Pretendard"/>
              </a:rPr>
              <a:t>할인 전략 인사이트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67512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3가지 핵심 발견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218919" y="3200400"/>
            <a:ext cx="42976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14218919" y="3200400"/>
            <a:ext cx="42976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14584680" y="3520440"/>
            <a:ext cx="365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84680" y="45720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14584680" y="4754880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Pretendard"/>
              </a:rPr>
              <a:t>장르별 추천 할인 전략 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84680" y="667512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결론 슬라이드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653760" y="3200400"/>
            <a:ext cx="42976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18653760" y="3200400"/>
            <a:ext cx="42976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19019519" y="3520440"/>
            <a:ext cx="365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687C"/>
                </a:solidFill>
                <a:latin typeface="Pretendard JP SemiBold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19519" y="45720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19019519" y="4754880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Pretendard"/>
              </a:rPr>
              <a:t>분석 코드 및 데이터셋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19" y="6675120"/>
            <a:ext cx="3840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GitHub 저장소 공개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8503920"/>
            <a:ext cx="2194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0687C"/>
                </a:solidFill>
                <a:latin typeface="Pretendard"/>
              </a:rPr>
              <a:t>차별화된</a:t>
            </a:r>
            <a:r>
              <a:rPr sz="24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0687C"/>
                </a:solidFill>
                <a:latin typeface="Pretendard"/>
              </a:rPr>
              <a:t>기대</a:t>
            </a:r>
            <a:r>
              <a:rPr sz="24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0687C"/>
                </a:solidFill>
                <a:latin typeface="Pretendard"/>
              </a:rPr>
              <a:t>가치</a:t>
            </a:r>
            <a:endParaRPr sz="24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4400" y="9144000"/>
            <a:ext cx="21945600" cy="3474720"/>
          </a:xfrm>
          <a:prstGeom prst="rect">
            <a:avLst/>
          </a:prstGeom>
          <a:gradFill flip="none" rotWithShape="1">
            <a:gsLst>
              <a:gs pos="0">
                <a:srgbClr val="10687C">
                  <a:shade val="30000"/>
                  <a:satMod val="115000"/>
                </a:srgbClr>
              </a:gs>
              <a:gs pos="50000">
                <a:srgbClr val="10687C">
                  <a:shade val="67500"/>
                  <a:satMod val="115000"/>
                </a:srgbClr>
              </a:gs>
              <a:gs pos="100000">
                <a:srgbClr val="10687C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1371600" y="9418320"/>
            <a:ext cx="21031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DBEAEB"/>
                </a:solidFill>
                <a:latin typeface="Pretendard JP SemiBold"/>
              </a:rPr>
              <a:t>EXPECTED 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9916856"/>
            <a:ext cx="274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DBEAEB"/>
                </a:solidFill>
                <a:latin typeface="Pretendard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9935144"/>
            <a:ext cx="13716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retendard"/>
              </a:rPr>
              <a:t>게임사 · 인디 개발자가 실제 참고할 수 있는 실용적 결론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3674" y="10313304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DBEAEB"/>
                </a:solidFill>
                <a:latin typeface="Pretendard"/>
              </a:rPr>
              <a:t>단순 발표 자료를 넘어 의사결정에 사용 가능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10785536"/>
            <a:ext cx="274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DBEAEB"/>
                </a:solidFill>
                <a:latin typeface="Pretendard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10803824"/>
            <a:ext cx="13716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Pretendard"/>
              </a:rPr>
              <a:t>전체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코드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데이터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GitHub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공개로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재현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가능성</a:t>
            </a:r>
            <a:r>
              <a:rPr sz="20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Pretendard"/>
              </a:rPr>
              <a:t>확보</a:t>
            </a:r>
            <a:endParaRPr sz="20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753674" y="11181984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DBEAEB"/>
                </a:solidFill>
                <a:latin typeface="Pretendard"/>
              </a:rPr>
              <a:t>학술적 신뢰도와 후속 연구 지원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11654216"/>
            <a:ext cx="274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DBEAEB"/>
                </a:solidFill>
                <a:latin typeface="Pretendard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11672504"/>
            <a:ext cx="13716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retendard"/>
              </a:rPr>
              <a:t>리뷰 시계열 + 지표 계산 방식의 후속 연구 출발점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3674" y="12050664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DBEAEB"/>
                </a:solidFill>
                <a:latin typeface="Pretendard"/>
              </a:rPr>
              <a:t>표본 확장 · 매출 데이터 결합 시 본격적 도구화 가능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진행 방법 ① 데이터 수집 및 선정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95959"/>
                </a:solidFill>
                <a:latin typeface="Pretendard"/>
              </a:rPr>
              <a:t>METHODOLOGY</a:t>
            </a:r>
            <a:r>
              <a:rPr lang="en-US" sz="1400" b="0" dirty="0">
                <a:solidFill>
                  <a:srgbClr val="595959"/>
                </a:solidFill>
                <a:latin typeface="Pretendard"/>
              </a:rPr>
              <a:t> · DATA COLLECTION</a:t>
            </a:r>
            <a:endParaRPr sz="1400" b="0" dirty="0">
              <a:solidFill>
                <a:srgbClr val="595959"/>
              </a:solidFill>
              <a:latin typeface="Pretendard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447586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0687C"/>
                </a:solidFill>
                <a:latin typeface="Pretendard"/>
              </a:rPr>
              <a:t>수집한</a:t>
            </a:r>
            <a:r>
              <a:rPr sz="28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0687C"/>
                </a:solidFill>
                <a:latin typeface="Pretendard"/>
              </a:rPr>
              <a:t>데이터</a:t>
            </a:r>
            <a:r>
              <a:rPr sz="2800" b="1" dirty="0">
                <a:solidFill>
                  <a:srgbClr val="10687C"/>
                </a:solidFill>
                <a:latin typeface="Pretendard"/>
              </a:rPr>
              <a:t> (3개 </a:t>
            </a:r>
            <a:r>
              <a:rPr sz="2800" b="1" dirty="0" err="1">
                <a:solidFill>
                  <a:srgbClr val="10687C"/>
                </a:solidFill>
                <a:latin typeface="Pretendard"/>
              </a:rPr>
              <a:t>출처</a:t>
            </a:r>
            <a:r>
              <a:rPr sz="2800" b="1" dirty="0">
                <a:solidFill>
                  <a:srgbClr val="10687C"/>
                </a:solidFill>
                <a:latin typeface="Pretendard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72694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80160" y="347472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687C"/>
                </a:solidFill>
                <a:latin typeface="Pretendard JP SemiBold"/>
              </a:rPr>
              <a:t>Steam Web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6400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appdetails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80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게임 메타데이터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장르 · 정가 · 출시일 · 멀티/싱글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943600"/>
            <a:ext cx="64008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280160" y="6126480"/>
            <a:ext cx="6400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72694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개 게임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200400"/>
            <a:ext cx="72694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ectangle 18"/>
          <p:cNvSpPr/>
          <p:nvPr/>
        </p:nvSpPr>
        <p:spPr>
          <a:xfrm>
            <a:off x="8321040" y="320040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686800" y="347472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687C"/>
                </a:solidFill>
                <a:latin typeface="Pretendard JP SemiBold"/>
              </a:rPr>
              <a:t>IsThereAnyDeal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40480"/>
            <a:ext cx="6400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deal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526280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할인 이력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2120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시작일 · 종료일 · 할인율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5943600"/>
            <a:ext cx="64008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8686800" y="6126480"/>
            <a:ext cx="6400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692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72694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건 이벤트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727680" y="3200400"/>
            <a:ext cx="7269480" cy="4572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15727680" y="320040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16093439" y="347472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0687C"/>
                </a:solidFill>
                <a:latin typeface="Pretendard JP SemiBold"/>
              </a:rPr>
              <a:t>Steam Web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93439" y="3840480"/>
            <a:ext cx="6400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appreviews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93439" y="4526280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리뷰 시계열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3439" y="52120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일별 리뷰 작성 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93439" y="5943600"/>
            <a:ext cx="64008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16093439" y="6126480"/>
            <a:ext cx="6400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7,732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39" y="7269480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행 데이터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822960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분석 대상 선정 기준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139868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F5E6B699-FF53-1AA0-F425-98364931EB64}"/>
              </a:ext>
            </a:extLst>
          </p:cNvPr>
          <p:cNvSpPr/>
          <p:nvPr/>
        </p:nvSpPr>
        <p:spPr>
          <a:xfrm>
            <a:off x="1139867" y="8845477"/>
            <a:ext cx="3914506" cy="3914506"/>
          </a:xfrm>
          <a:prstGeom prst="ellipse">
            <a:avLst/>
          </a:prstGeom>
          <a:solidFill>
            <a:srgbClr val="23538D"/>
          </a:solidFill>
          <a:effectLst>
            <a:outerShdw blurRad="50800" dist="38100" dir="2700000" algn="tl" rotWithShape="0">
              <a:prstClr val="black">
                <a:alpha val="7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033906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07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0CE64F7-E847-9A46-6E41-0EF6F6D0B02A}"/>
              </a:ext>
            </a:extLst>
          </p:cNvPr>
          <p:cNvSpPr/>
          <p:nvPr/>
        </p:nvSpPr>
        <p:spPr>
          <a:xfrm>
            <a:off x="6957893" y="8845477"/>
            <a:ext cx="3914506" cy="3914506"/>
          </a:xfrm>
          <a:prstGeom prst="ellipse">
            <a:avLst/>
          </a:prstGeom>
          <a:solidFill>
            <a:srgbClr val="23538D"/>
          </a:solidFill>
          <a:effectLst>
            <a:outerShdw blurRad="50800" dist="38100" dir="2700000" algn="tl" rotWithShape="0">
              <a:prstClr val="black">
                <a:alpha val="7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63DAD3F-0D84-E3DB-B42C-7D302B14D499}"/>
              </a:ext>
            </a:extLst>
          </p:cNvPr>
          <p:cNvSpPr/>
          <p:nvPr/>
        </p:nvSpPr>
        <p:spPr>
          <a:xfrm>
            <a:off x="12550998" y="8795217"/>
            <a:ext cx="3914506" cy="3914506"/>
          </a:xfrm>
          <a:prstGeom prst="ellipse">
            <a:avLst/>
          </a:prstGeom>
          <a:solidFill>
            <a:srgbClr val="23538D"/>
          </a:solidFill>
          <a:effectLst>
            <a:outerShdw blurRad="50800" dist="38100" dir="2700000" algn="tl" rotWithShape="0">
              <a:prstClr val="black">
                <a:alpha val="7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029EAE5E-F8D8-8D64-2942-BAE02DEE933B}"/>
              </a:ext>
            </a:extLst>
          </p:cNvPr>
          <p:cNvSpPr/>
          <p:nvPr/>
        </p:nvSpPr>
        <p:spPr>
          <a:xfrm>
            <a:off x="18369024" y="8795217"/>
            <a:ext cx="3914506" cy="3914506"/>
          </a:xfrm>
          <a:prstGeom prst="ellipse">
            <a:avLst/>
          </a:prstGeom>
          <a:solidFill>
            <a:srgbClr val="23538D"/>
          </a:solidFill>
          <a:effectLst>
            <a:outerShdw blurRad="50800" dist="38100" dir="2700000" algn="tl" rotWithShape="0">
              <a:prstClr val="black">
                <a:alpha val="7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2879106" y="9524635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chemeClr val="bg1"/>
                </a:solidFill>
                <a:latin typeface="Pretendard JP SemiBold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8862" y="1081685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chemeClr val="bg1"/>
                </a:solidFill>
                <a:latin typeface="Pretendard"/>
              </a:rPr>
              <a:t>장르</a:t>
            </a:r>
            <a:r>
              <a:rPr sz="2000" b="1" dirty="0">
                <a:solidFill>
                  <a:schemeClr val="bg1"/>
                </a:solidFill>
                <a:latin typeface="Pretendard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Pretendard"/>
              </a:rPr>
              <a:t>균형</a:t>
            </a:r>
            <a:endParaRPr sz="2000" b="1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76816" y="11319770"/>
            <a:ext cx="5029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Pretendard"/>
              </a:rPr>
              <a:t>Action / RPG / </a:t>
            </a:r>
            <a:r>
              <a:rPr sz="1600" b="0" dirty="0" err="1">
                <a:solidFill>
                  <a:schemeClr val="bg1"/>
                </a:solidFill>
                <a:latin typeface="Pretendard"/>
              </a:rPr>
              <a:t>Strategy·Sim</a:t>
            </a:r>
            <a:endParaRPr sz="1600" b="0" dirty="0">
              <a:solidFill>
                <a:schemeClr val="bg1"/>
              </a:solidFill>
              <a:latin typeface="Pretendard"/>
            </a:endParaRPr>
          </a:p>
          <a:p>
            <a:pPr algn="l"/>
            <a:r>
              <a:rPr sz="1600" b="0" dirty="0">
                <a:solidFill>
                  <a:schemeClr val="bg1"/>
                </a:solidFill>
                <a:latin typeface="Pretendard"/>
              </a:rPr>
              <a:t>/ Adventure / </a:t>
            </a:r>
            <a:r>
              <a:rPr sz="1600" b="0" dirty="0" err="1">
                <a:solidFill>
                  <a:schemeClr val="bg1"/>
                </a:solidFill>
                <a:latin typeface="Pretendard"/>
              </a:rPr>
              <a:t>Casual·Indie</a:t>
            </a:r>
            <a:r>
              <a:rPr sz="1600" b="0" dirty="0">
                <a:solidFill>
                  <a:schemeClr val="bg1"/>
                </a:solidFill>
                <a:latin typeface="Pretendard"/>
              </a:rPr>
              <a:t> 각 10개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9785" y="9524635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chemeClr val="bg1"/>
                </a:solidFill>
                <a:latin typeface="Pretendard JP SemiBold"/>
              </a:rPr>
              <a:t>$5+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361" y="1081685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Pretendard"/>
              </a:rPr>
              <a:t>유료 게임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361" y="11319770"/>
            <a:ext cx="5029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chemeClr val="bg1"/>
                </a:solidFill>
                <a:latin typeface="Pretendard"/>
              </a:rPr>
              <a:t>정가 $5 이상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Pretendard"/>
              </a:rPr>
              <a:t>F2P 게임 제외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57506" y="9524635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dirty="0">
                <a:solidFill>
                  <a:schemeClr val="bg1"/>
                </a:solidFill>
                <a:latin typeface="Pretendard JP SemiBold"/>
              </a:rPr>
              <a:t>10K+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62147" y="10822144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chemeClr val="bg1"/>
                </a:solidFill>
                <a:latin typeface="Pretendard"/>
              </a:rPr>
              <a:t>충분한</a:t>
            </a:r>
            <a:r>
              <a:rPr sz="2000" b="1" dirty="0">
                <a:solidFill>
                  <a:schemeClr val="bg1"/>
                </a:solidFill>
                <a:latin typeface="Pretendard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Pretendard"/>
              </a:rPr>
              <a:t>인기도</a:t>
            </a:r>
            <a:endParaRPr sz="2000" b="1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3762147" y="11325064"/>
            <a:ext cx="5029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chemeClr val="bg1"/>
                </a:solidFill>
                <a:latin typeface="Pretendard"/>
              </a:rPr>
              <a:t>리뷰</a:t>
            </a:r>
            <a:r>
              <a:rPr sz="1600" b="0" dirty="0">
                <a:solidFill>
                  <a:schemeClr val="bg1"/>
                </a:solidFill>
                <a:latin typeface="Pretendard"/>
              </a:rPr>
              <a:t> 1만 개 </a:t>
            </a:r>
            <a:r>
              <a:rPr sz="1600" b="0" dirty="0" err="1">
                <a:solidFill>
                  <a:schemeClr val="bg1"/>
                </a:solidFill>
                <a:latin typeface="Pretendard"/>
              </a:rPr>
              <a:t>이상</a:t>
            </a:r>
            <a:endParaRPr sz="1600" b="0" dirty="0">
              <a:solidFill>
                <a:schemeClr val="bg1"/>
              </a:solidFill>
              <a:latin typeface="Pretendard"/>
            </a:endParaRPr>
          </a:p>
          <a:p>
            <a:pPr algn="l"/>
            <a:r>
              <a:rPr sz="1600" b="0" dirty="0" err="1">
                <a:solidFill>
                  <a:schemeClr val="bg1"/>
                </a:solidFill>
                <a:latin typeface="Pretendard"/>
              </a:rPr>
              <a:t>통계적</a:t>
            </a:r>
            <a:r>
              <a:rPr sz="1600" b="0" dirty="0">
                <a:solidFill>
                  <a:schemeClr val="bg1"/>
                </a:solidFill>
                <a:latin typeface="Pretendard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Pretendard"/>
              </a:rPr>
              <a:t>유의성</a:t>
            </a:r>
            <a:r>
              <a:rPr sz="1600" b="0" dirty="0">
                <a:solidFill>
                  <a:schemeClr val="bg1"/>
                </a:solidFill>
                <a:latin typeface="Pretendard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Pretendard"/>
              </a:rPr>
              <a:t>확보</a:t>
            </a:r>
            <a:endParaRPr sz="1600" b="0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793628" y="9524635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dirty="0">
                <a:solidFill>
                  <a:schemeClr val="bg1"/>
                </a:solidFill>
                <a:latin typeface="Pretendard JP SemiBold"/>
              </a:rPr>
              <a:t>1Y+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86948" y="1081685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Pretendard"/>
              </a:rPr>
              <a:t>출시 1년 이상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86948" y="11319770"/>
            <a:ext cx="5029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chemeClr val="bg1"/>
                </a:solidFill>
                <a:latin typeface="Pretendard"/>
              </a:rPr>
              <a:t>신작 초기 리뷰</a:t>
            </a:r>
          </a:p>
          <a:p>
            <a:pPr algn="l"/>
            <a:r>
              <a:rPr sz="1600" b="0">
                <a:solidFill>
                  <a:schemeClr val="bg1"/>
                </a:solidFill>
                <a:latin typeface="Pretendard"/>
              </a:rPr>
              <a:t>폭발 효과 제거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진행 방법 ② 핵심 분석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95959"/>
                </a:solidFill>
                <a:latin typeface="Pretendard"/>
              </a:rPr>
              <a:t>METHODOLOGY · METRICS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solidFill>
                  <a:srgbClr val="595959"/>
                </a:solidFill>
                <a:latin typeface="Pretendard"/>
              </a:rPr>
              <a:t>왜 두 </a:t>
            </a:r>
            <a:r>
              <a:rPr sz="3600" b="1" dirty="0" err="1">
                <a:solidFill>
                  <a:srgbClr val="595959"/>
                </a:solidFill>
                <a:latin typeface="Pretendard"/>
              </a:rPr>
              <a:t>개의</a:t>
            </a:r>
            <a:r>
              <a:rPr sz="3600" b="1" dirty="0">
                <a:solidFill>
                  <a:srgbClr val="595959"/>
                </a:solidFill>
                <a:latin typeface="Pretendard"/>
              </a:rPr>
              <a:t> </a:t>
            </a:r>
            <a:r>
              <a:rPr sz="3600" b="1" dirty="0" err="1">
                <a:solidFill>
                  <a:srgbClr val="595959"/>
                </a:solidFill>
                <a:latin typeface="Pretendard"/>
              </a:rPr>
              <a:t>지표가</a:t>
            </a:r>
            <a:r>
              <a:rPr sz="3600" b="1" dirty="0">
                <a:solidFill>
                  <a:srgbClr val="595959"/>
                </a:solidFill>
                <a:latin typeface="Pretendard"/>
              </a:rPr>
              <a:t> </a:t>
            </a:r>
            <a:r>
              <a:rPr sz="3600" b="1" dirty="0" err="1">
                <a:solidFill>
                  <a:srgbClr val="595959"/>
                </a:solidFill>
                <a:latin typeface="Pretendard"/>
              </a:rPr>
              <a:t>필요한가</a:t>
            </a:r>
            <a:r>
              <a:rPr sz="3600" b="1" dirty="0">
                <a:solidFill>
                  <a:srgbClr val="595959"/>
                </a:solidFill>
                <a:latin typeface="Pretendard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3552"/>
            <a:ext cx="2194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할인의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즉시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효과와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지속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효과를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분리해서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봐야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"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단발성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vs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지속성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"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장르를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구분할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수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있다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21945600" cy="3657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137160" cy="365760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7150" y="4480560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Pretendard"/>
              </a:rPr>
              <a:t>할인 반응률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7150" y="512064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Reaction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36618" y="4321480"/>
            <a:ext cx="2011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20636618" y="4487631"/>
            <a:ext cx="2011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즉시 효과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897880"/>
            <a:ext cx="1252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1554480" y="6080760"/>
            <a:ext cx="142646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1A1A1A"/>
                </a:solidFill>
                <a:latin typeface="Consolas"/>
              </a:rPr>
              <a:t>(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기간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 − 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직전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30일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/>
            <a:r>
              <a:rPr lang="en-US" sz="2400" b="0" dirty="0">
                <a:solidFill>
                  <a:srgbClr val="1A1A1A"/>
                </a:solidFill>
                <a:latin typeface="Consolas"/>
              </a:rPr>
              <a:t>			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÷ 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직전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30일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endParaRPr sz="24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511410" y="5947984"/>
            <a:ext cx="58183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0687C"/>
                </a:solidFill>
                <a:latin typeface="Pretendard JP SemiBold"/>
              </a:rPr>
              <a:t>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11410" y="6359464"/>
            <a:ext cx="581833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할인 진행 중 사용자 활동이</a:t>
            </a:r>
          </a:p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평소 대비 얼마나 폭증했는가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138160"/>
            <a:ext cx="21945600" cy="3657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ectangle 21"/>
          <p:cNvSpPr/>
          <p:nvPr/>
        </p:nvSpPr>
        <p:spPr>
          <a:xfrm>
            <a:off x="914400" y="8138160"/>
            <a:ext cx="137160" cy="365760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1371600" y="850392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7150" y="8503920"/>
            <a:ext cx="1097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 err="1">
                <a:solidFill>
                  <a:srgbClr val="1A1A1A"/>
                </a:solidFill>
                <a:latin typeface="Pretendard"/>
              </a:rPr>
              <a:t>유지</a:t>
            </a:r>
            <a:r>
              <a:rPr sz="40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4000" b="1" dirty="0" err="1">
                <a:solidFill>
                  <a:srgbClr val="1A1A1A"/>
                </a:solidFill>
                <a:latin typeface="Pretendard"/>
              </a:rPr>
              <a:t>반응률</a:t>
            </a:r>
            <a:endParaRPr sz="40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37150" y="914400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595959"/>
                </a:solidFill>
                <a:latin typeface="Pretendard"/>
              </a:rPr>
              <a:t>Sustained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636618" y="8344840"/>
            <a:ext cx="2011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20636618" y="8510991"/>
            <a:ext cx="2011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"/>
              </a:rPr>
              <a:t>지속 효과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9921240"/>
            <a:ext cx="1252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1554480" y="10104120"/>
            <a:ext cx="142646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1A1A1A"/>
                </a:solidFill>
                <a:latin typeface="Consolas"/>
              </a:rPr>
              <a:t>(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종료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후 14일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 − 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직전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30일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)</a:t>
            </a:r>
          </a:p>
          <a:p>
            <a:r>
              <a:rPr lang="en-US" sz="2400" b="0" dirty="0">
                <a:solidFill>
                  <a:srgbClr val="1A1A1A"/>
                </a:solidFill>
                <a:latin typeface="Consolas"/>
              </a:rPr>
              <a:t>				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÷ 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직전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30일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일평균</a:t>
            </a:r>
            <a:r>
              <a:rPr sz="2400" b="0" dirty="0">
                <a:solidFill>
                  <a:srgbClr val="1A1A1A"/>
                </a:solidFill>
                <a:latin typeface="Consolas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Consolas"/>
              </a:rPr>
              <a:t>리뷰</a:t>
            </a:r>
            <a:endParaRPr sz="2400" b="0" dirty="0">
              <a:solidFill>
                <a:srgbClr val="1A1A1A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11410" y="9971344"/>
            <a:ext cx="58183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0687C"/>
                </a:solidFill>
                <a:latin typeface="Pretendard JP SemiBold"/>
              </a:rPr>
              <a:t>MEANING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11410" y="10382824"/>
            <a:ext cx="581833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 err="1">
                <a:solidFill>
                  <a:srgbClr val="595959"/>
                </a:solidFill>
                <a:latin typeface="Pretendard"/>
              </a:rPr>
              <a:t>할인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종료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후에도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사용자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활동이</a:t>
            </a:r>
            <a:endParaRPr sz="2400" b="0" dirty="0">
              <a:solidFill>
                <a:srgbClr val="595959"/>
              </a:solidFill>
              <a:latin typeface="Pretendard"/>
            </a:endParaRPr>
          </a:p>
          <a:p>
            <a:pPr algn="l"/>
            <a:r>
              <a:rPr sz="2400" b="0" dirty="0" err="1">
                <a:solidFill>
                  <a:srgbClr val="595959"/>
                </a:solidFill>
                <a:latin typeface="Pretendard"/>
              </a:rPr>
              <a:t>평소보다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높게</a:t>
            </a:r>
            <a:r>
              <a:rPr sz="24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595959"/>
                </a:solidFill>
                <a:latin typeface="Pretendard"/>
              </a:rPr>
              <a:t>유지되는가</a:t>
            </a:r>
            <a:endParaRPr sz="2400"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12390120"/>
            <a:ext cx="2194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·  두 지표 모두 비율 사용 → 인기도가 다른 게임 간 비교 가능        ·  5~95 백분위 Winsorize로 극단값 처리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retendard JP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진행 방법 ③ 통제 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METHODOLOGY · CONTROL VARIABLES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21945600" cy="1188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21031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DBEAEB"/>
                </a:solidFill>
                <a:latin typeface="Pretendard JP SemiBold"/>
              </a:rPr>
              <a:t>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21031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"그 반응이 정말 할인 때문인가, 아니면 다른 요인 때문인가?"라는 비판에 대비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06240"/>
            <a:ext cx="5349240" cy="5212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8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4406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시즌 세일 여부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6080760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Consolas"/>
              </a:rPr>
              <a:t>is_seasonal_sale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65379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1280160" y="6720840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여름·가을·겨울 세일은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모든 게임이 동시에 노출되어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평시 할인보다 효과가 클 수 있음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349240" cy="5212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6400800" y="420624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4406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출시 후 경과 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6080760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Consolas"/>
              </a:rPr>
              <a:t>days_since_release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65379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766560" y="6720840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신작은 할인과 무관하게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초기 리뷰가 폭발적으로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증가하는 경향이 있음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0" y="4206240"/>
            <a:ext cx="5349240" cy="5212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ectangle 25"/>
          <p:cNvSpPr/>
          <p:nvPr/>
        </p:nvSpPr>
        <p:spPr>
          <a:xfrm>
            <a:off x="11887200" y="420624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2252960" y="452628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54406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전체 리뷰 수 (인기도)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0" y="6080760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10687C"/>
                </a:solidFill>
                <a:latin typeface="Consolas"/>
              </a:rPr>
              <a:t>total_reviews</a:t>
            </a:r>
            <a:endParaRPr sz="1600" b="0" dirty="0">
              <a:solidFill>
                <a:srgbClr val="10687C"/>
              </a:solidFill>
              <a:latin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252960" y="65379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12252960" y="6720840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595959"/>
                </a:solidFill>
                <a:latin typeface="Pretendard"/>
              </a:rPr>
              <a:t>인기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게임은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작은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할인에도</a:t>
            </a:r>
            <a:endParaRPr sz="2000" b="0" dirty="0">
              <a:solidFill>
                <a:srgbClr val="595959"/>
              </a:solidFill>
              <a:latin typeface="Pretendard"/>
            </a:endParaRPr>
          </a:p>
          <a:p>
            <a:pPr algn="l"/>
            <a:r>
              <a:rPr sz="2000" b="0" dirty="0" err="1">
                <a:solidFill>
                  <a:srgbClr val="595959"/>
                </a:solidFill>
                <a:latin typeface="Pretendard"/>
              </a:rPr>
              <a:t>절대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변화량이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큼</a:t>
            </a:r>
          </a:p>
          <a:p>
            <a:pPr algn="l"/>
            <a:r>
              <a:rPr sz="2000" b="0" dirty="0">
                <a:solidFill>
                  <a:srgbClr val="595959"/>
                </a:solidFill>
                <a:latin typeface="Pretendard"/>
              </a:rPr>
              <a:t>→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절대값이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아닌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비율로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측정</a:t>
            </a:r>
            <a:endParaRPr sz="2000"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373600" y="4206240"/>
            <a:ext cx="5349240" cy="52120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17373600" y="420624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17739360" y="4526280"/>
            <a:ext cx="1371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39360" y="54406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멀티 / 싱글 여부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739360" y="6080760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10687C"/>
                </a:solidFill>
                <a:latin typeface="Consolas"/>
              </a:rPr>
              <a:t>is_multiplayer</a:t>
            </a:r>
            <a:endParaRPr sz="1600" b="0" dirty="0">
              <a:solidFill>
                <a:srgbClr val="10687C"/>
              </a:solidFill>
              <a:latin typeface="Consola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7739360" y="65379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17739360" y="6720840"/>
            <a:ext cx="502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멀티플레이 게임은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커뮤니티·이벤트 영향이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더 클 수 있음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1005840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통제 변수 검증 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10698480"/>
            <a:ext cx="10835640" cy="2103120"/>
          </a:xfrm>
          <a:prstGeom prst="rect">
            <a:avLst/>
          </a:prstGeom>
          <a:solidFill>
            <a:srgbClr val="DB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1280160" y="1088136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687C"/>
                </a:solidFill>
                <a:latin typeface="Pretendard JP SemiBold"/>
              </a:rPr>
              <a:t>VERIFICATION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1124712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A1A1A"/>
                </a:solidFill>
                <a:latin typeface="Pretendard"/>
              </a:rPr>
              <a:t>할인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빈도</a:t>
            </a:r>
            <a:r>
              <a:rPr sz="28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800" b="1" dirty="0" err="1">
                <a:solidFill>
                  <a:srgbClr val="1A1A1A"/>
                </a:solidFill>
                <a:latin typeface="Pretendard"/>
              </a:rPr>
              <a:t>분석</a:t>
            </a:r>
            <a:endParaRPr sz="28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80160" y="11887200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게임별 이벤트 수 중앙값 기준 저빈도/고빈도</a:t>
            </a:r>
          </a:p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두 그룹으로 나눠 반응률 비교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24360" y="10698480"/>
            <a:ext cx="10835640" cy="2103120"/>
          </a:xfrm>
          <a:prstGeom prst="rect">
            <a:avLst/>
          </a:prstGeom>
          <a:solidFill>
            <a:srgbClr val="DB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12390120" y="1088136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10687C"/>
                </a:solidFill>
                <a:latin typeface="Pretendard JP SemiBold"/>
              </a:rPr>
              <a:t>VERIFICATION 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90120" y="1124712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인기도 통제 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90120" y="11887200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전체 리뷰 수 중앙값 기준 고/저 인기 그룹으로</a:t>
            </a:r>
          </a:p>
          <a:p>
            <a:pPr algn="l"/>
            <a:r>
              <a:rPr b="0">
                <a:solidFill>
                  <a:srgbClr val="595959"/>
                </a:solidFill>
                <a:latin typeface="Pretendard"/>
              </a:rPr>
              <a:t>나눠 같은 장르 패턴 유지 여부 확인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6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구성원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R&amp;R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400" dirty="0"/>
              <a:t>Team &amp; Timeline</a:t>
            </a:r>
            <a:endParaRPr lang="en-US" altLang="ko-KR" sz="1200" dirty="0">
              <a:solidFill>
                <a:srgbClr val="595959"/>
              </a:solidFill>
              <a:latin typeface="Pretendard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2인 협업 역할 분담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0835640" cy="8229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10835640" cy="54864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14400" y="3336220"/>
            <a:ext cx="10835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Pretendard JP SemiBold"/>
              </a:rPr>
              <a:t>TEAM MEMBER 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23360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600" b="1" dirty="0">
                <a:solidFill>
                  <a:srgbClr val="1A1A1A"/>
                </a:solidFill>
                <a:latin typeface="Pretendard"/>
              </a:rPr>
              <a:t>이승엽</a:t>
            </a:r>
            <a:endParaRPr sz="36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4663440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0687C"/>
                </a:solidFill>
                <a:latin typeface="Pretendard"/>
              </a:rPr>
              <a:t>데이터 수집 · 전처리 · PPT 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30352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280160" y="557784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ko-KR" altLang="en-US" sz="2400" dirty="0"/>
              <a:t>프로젝트 기획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환경 세팅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6583679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  Steam Web API · </a:t>
            </a:r>
            <a:r>
              <a:rPr lang="en-US" altLang="ko-KR" sz="2400" dirty="0" err="1">
                <a:solidFill>
                  <a:srgbClr val="1A1A1A"/>
                </a:solidFill>
                <a:latin typeface="Pretendard"/>
              </a:rPr>
              <a:t>IsThereAnyDeal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 API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758952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메타데이터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할인 이력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리뷰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859536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데이터 </a:t>
            </a:r>
            <a:r>
              <a:rPr lang="ko-KR" altLang="en-US" sz="2400" dirty="0" err="1">
                <a:solidFill>
                  <a:srgbClr val="1A1A1A"/>
                </a:solidFill>
                <a:latin typeface="Pretendard"/>
              </a:rPr>
              <a:t>전처리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: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결측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중복 처리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, 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장르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5</a:t>
            </a:r>
            <a:r>
              <a:rPr lang="ko-KR" altLang="en-US" sz="2400" dirty="0">
                <a:solidFill>
                  <a:srgbClr val="1A1A1A"/>
                </a:solidFill>
                <a:latin typeface="Pretendard"/>
              </a:rPr>
              <a:t>개 대분류 매핑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960120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ko-KR" altLang="en-US" sz="2400" b="0" dirty="0">
                <a:solidFill>
                  <a:srgbClr val="1A1A1A"/>
                </a:solidFill>
                <a:latin typeface="Pretendard"/>
              </a:rPr>
              <a:t>정제 데이터셋 구축 </a:t>
            </a:r>
            <a:r>
              <a:rPr lang="en-US" altLang="ko-KR" sz="2400" dirty="0">
                <a:solidFill>
                  <a:srgbClr val="1A1A1A"/>
                </a:solidFill>
                <a:latin typeface="Pretendard"/>
              </a:rPr>
              <a:t>·</a:t>
            </a:r>
            <a:r>
              <a:rPr lang="ko-KR" altLang="en-US"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PPT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슬라이드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제작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24360" y="3200400"/>
            <a:ext cx="10835640" cy="8229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12024360" y="3200400"/>
            <a:ext cx="10835640" cy="54864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12024360" y="3336220"/>
            <a:ext cx="108356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Pretendard JP SemiBold"/>
              </a:rPr>
              <a:t>TEAM MEMBER 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0120" y="4023360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3600" b="1" dirty="0">
                <a:solidFill>
                  <a:srgbClr val="1A1A1A"/>
                </a:solidFill>
                <a:latin typeface="Pretendard"/>
              </a:rPr>
              <a:t>이동민</a:t>
            </a:r>
            <a:endParaRPr sz="36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90120" y="4663440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0687C"/>
                </a:solidFill>
                <a:latin typeface="Pretendard"/>
              </a:rPr>
              <a:t>본 분석 · 시각화 · 발표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90120" y="530352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12390120" y="557784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lang="ko-KR" altLang="en-US" sz="2400" dirty="0"/>
              <a:t>통제 변수 플래그 생성 </a:t>
            </a:r>
            <a:r>
              <a:rPr lang="en-US" altLang="ko-KR" sz="2400" dirty="0"/>
              <a:t>+ </a:t>
            </a:r>
            <a:r>
              <a:rPr lang="ko-KR" altLang="en-US" sz="2400" dirty="0"/>
              <a:t>핵심 지표 계산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390120" y="6583679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장르별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비교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·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상관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분석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90120" y="758952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Pretendard"/>
              </a:rPr>
              <a:t>·  matplotlib · seaborn 시각화 7개 차트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90120" y="859536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빈도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·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인기도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통제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분석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수행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390120" y="960120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1A1A1A"/>
                </a:solidFill>
                <a:latin typeface="Pretendard"/>
              </a:rPr>
              <a:t>· 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발표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· Q&amp;A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대응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11795760"/>
            <a:ext cx="21945600" cy="100584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192478" y="11937304"/>
            <a:ext cx="21031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BEAEB"/>
                </a:solidFill>
                <a:latin typeface="Pretendard JP SemiBold"/>
              </a:rPr>
              <a:t>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2478" y="12257344"/>
            <a:ext cx="21031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Pretendard"/>
              </a:rPr>
              <a:t>A</a:t>
            </a: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가 정제 데이터를 전달하면 </a:t>
            </a:r>
            <a:r>
              <a:rPr lang="en-US" altLang="ko-KR" sz="1600" b="1" dirty="0">
                <a:solidFill>
                  <a:srgbClr val="FFFFFF"/>
                </a:solidFill>
                <a:latin typeface="Pretendard"/>
              </a:rPr>
              <a:t>B</a:t>
            </a: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가 지표 계산부터 분석 및 시각화까지 담당</a:t>
            </a:r>
            <a:r>
              <a:rPr lang="en-US" altLang="ko-KR" sz="1600" b="1" dirty="0">
                <a:solidFill>
                  <a:srgbClr val="FFFFFF"/>
                </a:solidFill>
                <a:latin typeface="Pretendard"/>
              </a:rPr>
              <a:t>. </a:t>
            </a: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발표자</a:t>
            </a:r>
            <a:r>
              <a:rPr lang="en-US" altLang="ko-KR" sz="1600" b="1" dirty="0">
                <a:solidFill>
                  <a:srgbClr val="FFFFFF"/>
                </a:solidFill>
                <a:latin typeface="Pretendard"/>
              </a:rPr>
              <a:t>(B)</a:t>
            </a:r>
            <a:r>
              <a:rPr lang="ko-KR" altLang="en-US" sz="1600" b="1" dirty="0">
                <a:solidFill>
                  <a:srgbClr val="FFFFFF"/>
                </a:solidFill>
                <a:latin typeface="Pretendard"/>
              </a:rPr>
              <a:t>가 분석 전체를 직접 수행하여 발표 시 일관성 확보</a:t>
            </a:r>
            <a:endParaRPr sz="1600" b="1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6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프로젝트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스케쥴</a:t>
            </a:r>
            <a:endParaRPr sz="32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PROJECT TIMELINE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0687C"/>
                </a:solidFill>
                <a:latin typeface="Pretendard"/>
              </a:rPr>
              <a:t>5</a:t>
            </a:r>
            <a:r>
              <a:rPr lang="ko-KR" altLang="en-US" sz="2800" b="1" dirty="0">
                <a:solidFill>
                  <a:srgbClr val="10687C"/>
                </a:solidFill>
                <a:latin typeface="Pretendard"/>
              </a:rPr>
              <a:t>일 집중 일정</a:t>
            </a:r>
            <a:endParaRPr sz="28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932" y="3383280"/>
            <a:ext cx="4297680" cy="8503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688932" y="3383280"/>
            <a:ext cx="4297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88932" y="356482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Pretendard JP SemiBold"/>
              </a:rPr>
              <a:t>THU ~ FRI</a:t>
            </a:r>
            <a:endParaRPr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3252" y="429768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주제 선정 </a:t>
            </a:r>
            <a:r>
              <a:rPr lang="en-US" altLang="ko-KR" sz="2400" b="1" dirty="0">
                <a:solidFill>
                  <a:srgbClr val="1A1A1A"/>
                </a:solidFill>
                <a:latin typeface="Pretendard"/>
              </a:rPr>
              <a:t>+ </a:t>
            </a:r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환경 세팅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3252" y="5943600"/>
            <a:ext cx="54864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963252" y="612648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dirty="0">
                <a:solidFill>
                  <a:srgbClr val="10687C"/>
                </a:solidFill>
                <a:latin typeface="Pretendard JP SemiBold"/>
              </a:rPr>
              <a:t>GOAL</a:t>
            </a:r>
            <a:endParaRPr sz="1600" b="0" dirty="0">
              <a:solidFill>
                <a:srgbClr val="10687C"/>
              </a:solidFill>
              <a:latin typeface="Pretendard JP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3252" y="653796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분석 방향 확정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3252" y="73609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252" y="777240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이승엽 </a:t>
            </a:r>
            <a:r>
              <a:rPr lang="en-US" altLang="ko-KR" sz="2400" b="1" dirty="0">
                <a:latin typeface="Pretendard"/>
              </a:rPr>
              <a:t>· </a:t>
            </a:r>
            <a:r>
              <a:rPr lang="ko-KR" altLang="en-US" sz="2400" b="1" dirty="0">
                <a:latin typeface="Pretendard"/>
              </a:rPr>
              <a:t>이동민</a:t>
            </a:r>
            <a:endParaRPr sz="2400" b="1" dirty="0">
              <a:latin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3252" y="859536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252" y="9006840"/>
            <a:ext cx="4023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b="0" dirty="0">
                <a:solidFill>
                  <a:srgbClr val="595959"/>
                </a:solidFill>
                <a:latin typeface="Pretendard"/>
              </a:rPr>
              <a:t>기획서</a:t>
            </a:r>
            <a:endParaRPr lang="en-US" b="0" dirty="0">
              <a:solidFill>
                <a:srgbClr val="595959"/>
              </a:solidFill>
              <a:latin typeface="Pretendard"/>
            </a:endParaRPr>
          </a:p>
          <a:p>
            <a:pPr algn="l"/>
            <a:r>
              <a:rPr b="0" dirty="0">
                <a:solidFill>
                  <a:srgbClr val="595959"/>
                </a:solidFill>
                <a:latin typeface="Pretendard"/>
              </a:rPr>
              <a:t>target_games.csv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944" y="6853537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dirty="0">
                <a:solidFill>
                  <a:srgbClr val="10687C"/>
                </a:solidFill>
                <a:latin typeface="Pretendard JP SemiBold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4396" y="3383280"/>
            <a:ext cx="4297680" cy="8503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424396" y="3383280"/>
            <a:ext cx="4297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424396" y="356482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FFFFFF"/>
                </a:solidFill>
                <a:latin typeface="Pretendard JP SemiBold"/>
              </a:rPr>
              <a:t>SAT</a:t>
            </a:r>
            <a:endParaRPr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98715" y="429768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A1A1A"/>
                </a:solidFill>
                <a:latin typeface="Pretendard"/>
              </a:rPr>
              <a:t>데이터</a:t>
            </a:r>
            <a:r>
              <a:rPr sz="2400" b="1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Pretendard"/>
              </a:rPr>
              <a:t>수집</a:t>
            </a:r>
            <a:r>
              <a:rPr lang="en-US" sz="2400" b="1" dirty="0">
                <a:solidFill>
                  <a:srgbClr val="1A1A1A"/>
                </a:solidFill>
                <a:latin typeface="Pretendard"/>
              </a:rPr>
              <a:t> + </a:t>
            </a:r>
            <a:r>
              <a:rPr lang="ko-KR" altLang="en-US" sz="2400" b="1" dirty="0" err="1">
                <a:solidFill>
                  <a:srgbClr val="1A1A1A"/>
                </a:solidFill>
                <a:latin typeface="Pretendard"/>
              </a:rPr>
              <a:t>전처리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98715" y="5943600"/>
            <a:ext cx="54864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5698715" y="612648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10687C"/>
                </a:solidFill>
                <a:latin typeface="Pretendard JP SemiBold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8715" y="653796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분석 데이터 확보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98715" y="73609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8715" y="777240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이승엽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98715" y="859536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8715" y="9006840"/>
            <a:ext cx="4023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595959"/>
                </a:solidFill>
                <a:latin typeface="Pretendard"/>
              </a:rPr>
              <a:t>metadata · history</a:t>
            </a:r>
            <a:r>
              <a:rPr lang="en-US" b="0" dirty="0">
                <a:solidFill>
                  <a:srgbClr val="595959"/>
                </a:solidFill>
                <a:latin typeface="Pretendard"/>
              </a:rPr>
              <a:t> </a:t>
            </a:r>
            <a:r>
              <a:rPr b="0" dirty="0">
                <a:solidFill>
                  <a:srgbClr val="595959"/>
                </a:solidFill>
                <a:latin typeface="Pretendard"/>
              </a:rPr>
              <a:t>· reviews</a:t>
            </a:r>
            <a:endParaRPr lang="en-US"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88882" y="6853537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dirty="0">
                <a:solidFill>
                  <a:srgbClr val="10687C"/>
                </a:solidFill>
                <a:latin typeface="Pretendard JP SemiBold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7334" y="3383280"/>
            <a:ext cx="4297680" cy="8503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10147334" y="3383280"/>
            <a:ext cx="4297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10147334" y="356482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FFFFFF"/>
                </a:solidFill>
                <a:latin typeface="Pretendard JP SemiBold"/>
              </a:rPr>
              <a:t>SUN 1</a:t>
            </a:r>
            <a:endParaRPr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21654" y="429768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분석 </a:t>
            </a:r>
            <a:r>
              <a:rPr lang="en-US" altLang="ko-KR" sz="2400" b="1" dirty="0">
                <a:solidFill>
                  <a:srgbClr val="1A1A1A"/>
                </a:solidFill>
                <a:latin typeface="Pretendard"/>
              </a:rPr>
              <a:t>+ </a:t>
            </a:r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시각화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421654" y="5943600"/>
            <a:ext cx="54864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TextBox 37"/>
          <p:cNvSpPr txBox="1"/>
          <p:nvPr/>
        </p:nvSpPr>
        <p:spPr>
          <a:xfrm>
            <a:off x="10421654" y="612648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10687C"/>
                </a:solidFill>
                <a:latin typeface="Pretendard JP SemiBold"/>
              </a:rPr>
              <a:t>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1654" y="653796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패턴 가시화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421654" y="73609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1654" y="777240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이동민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421654" y="859536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1654" y="9006840"/>
            <a:ext cx="4023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0" dirty="0">
                <a:solidFill>
                  <a:srgbClr val="595959"/>
                </a:solidFill>
                <a:latin typeface="Pretendard"/>
              </a:rPr>
              <a:t>07_analysis.ipynb</a:t>
            </a:r>
          </a:p>
          <a:p>
            <a:pPr algn="l"/>
            <a:r>
              <a:rPr lang="en-US" dirty="0">
                <a:solidFill>
                  <a:srgbClr val="595959"/>
                </a:solidFill>
                <a:latin typeface="Pretendard"/>
              </a:rPr>
              <a:t>Figures/ chart 1~7</a:t>
            </a:r>
            <a:endParaRPr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4411820" y="6853537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dirty="0">
                <a:solidFill>
                  <a:srgbClr val="10687C"/>
                </a:solidFill>
                <a:latin typeface="Pretendard JP SemiBold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845219" y="3383280"/>
            <a:ext cx="4297680" cy="8503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ectangle 45"/>
          <p:cNvSpPr/>
          <p:nvPr/>
        </p:nvSpPr>
        <p:spPr>
          <a:xfrm>
            <a:off x="14845219" y="3383280"/>
            <a:ext cx="4297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14845219" y="356482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Pretendard JP SemiBold"/>
              </a:rPr>
              <a:t>SUN 2</a:t>
            </a:r>
            <a:endParaRPr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119540" y="429768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통계 검증 </a:t>
            </a:r>
            <a:r>
              <a:rPr lang="en-US" altLang="ko-KR" sz="2400" b="1" dirty="0">
                <a:solidFill>
                  <a:srgbClr val="1A1A1A"/>
                </a:solidFill>
                <a:latin typeface="Pretendard"/>
              </a:rPr>
              <a:t>+ </a:t>
            </a:r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해석 정리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5119540" y="5943600"/>
            <a:ext cx="54864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TextBox 49"/>
          <p:cNvSpPr txBox="1"/>
          <p:nvPr/>
        </p:nvSpPr>
        <p:spPr>
          <a:xfrm>
            <a:off x="15119540" y="612648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10687C"/>
                </a:solidFill>
                <a:latin typeface="Pretendard JP SemiBold"/>
              </a:rPr>
              <a:t>GOAL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19540" y="653796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통계적 검증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5119540" y="73609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OWNER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19540" y="777240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이동민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5119540" y="859536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19540" y="9006840"/>
            <a:ext cx="4023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dirty="0">
                <a:solidFill>
                  <a:srgbClr val="595959"/>
                </a:solidFill>
                <a:latin typeface="Pretendard"/>
              </a:rPr>
              <a:t>상관계수</a:t>
            </a:r>
            <a:endParaRPr lang="en-US" altLang="ko-KR" dirty="0">
              <a:solidFill>
                <a:srgbClr val="595959"/>
              </a:solidFill>
              <a:latin typeface="Pretendard"/>
            </a:endParaRPr>
          </a:p>
          <a:p>
            <a:pPr algn="l"/>
            <a:r>
              <a:rPr lang="ko-KR" altLang="en-US" b="0" dirty="0">
                <a:solidFill>
                  <a:srgbClr val="595959"/>
                </a:solidFill>
                <a:latin typeface="Pretendard"/>
              </a:rPr>
              <a:t>결론 수치 요약</a:t>
            </a:r>
            <a:endParaRPr b="0" dirty="0">
              <a:solidFill>
                <a:srgbClr val="595959"/>
              </a:solidFill>
              <a:latin typeface="Pretendard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097180" y="6853537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dirty="0">
                <a:solidFill>
                  <a:srgbClr val="10687C"/>
                </a:solidFill>
                <a:latin typeface="Pretendard JP SemiBold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555632" y="3383280"/>
            <a:ext cx="4297680" cy="8503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Rectangle 57"/>
          <p:cNvSpPr/>
          <p:nvPr/>
        </p:nvSpPr>
        <p:spPr>
          <a:xfrm>
            <a:off x="19555632" y="3383280"/>
            <a:ext cx="4297680" cy="640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19555632" y="356482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Pretendard JP SemiBold"/>
              </a:rPr>
              <a:t>MON ~ TUE</a:t>
            </a:r>
            <a:endParaRPr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9829952" y="429768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내용 검토 </a:t>
            </a:r>
            <a:r>
              <a:rPr lang="en-US" altLang="ko-KR" sz="2400" b="1" dirty="0">
                <a:solidFill>
                  <a:srgbClr val="1A1A1A"/>
                </a:solidFill>
                <a:latin typeface="Pretendard"/>
              </a:rPr>
              <a:t>+ </a:t>
            </a:r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발표자료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9829952" y="5943600"/>
            <a:ext cx="54864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2" name="TextBox 61"/>
          <p:cNvSpPr txBox="1"/>
          <p:nvPr/>
        </p:nvSpPr>
        <p:spPr>
          <a:xfrm>
            <a:off x="19829952" y="612648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600" dirty="0">
                <a:solidFill>
                  <a:srgbClr val="10687C"/>
                </a:solidFill>
                <a:latin typeface="Pretendard JP SemiBold"/>
              </a:rPr>
              <a:t>GOAL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829952" y="653796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발표 최종 정리</a:t>
            </a:r>
            <a:endParaRPr sz="2400" b="1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829952" y="73609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OWNER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829952" y="7772400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1A1A1A"/>
                </a:solidFill>
                <a:latin typeface="Pretendard"/>
              </a:rPr>
              <a:t>이승엽 </a:t>
            </a:r>
            <a:r>
              <a:rPr lang="en-US" altLang="ko-KR" sz="2400" b="1" dirty="0">
                <a:latin typeface="Pretendard"/>
              </a:rPr>
              <a:t>· </a:t>
            </a:r>
            <a:r>
              <a:rPr lang="ko-KR" altLang="en-US" sz="2400" b="1" dirty="0">
                <a:latin typeface="Pretendard"/>
              </a:rPr>
              <a:t>이동민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829952" y="859536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0687C"/>
                </a:solidFill>
                <a:latin typeface="Pretendard JP SemiBold"/>
              </a:rPr>
              <a:t>OUTPUT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829952" y="9006840"/>
            <a:ext cx="4023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595959"/>
                </a:solidFill>
                <a:latin typeface="Pretendard"/>
              </a:rPr>
              <a:t>PPT + </a:t>
            </a:r>
            <a:r>
              <a:rPr b="0" dirty="0" err="1">
                <a:solidFill>
                  <a:srgbClr val="595959"/>
                </a:solidFill>
                <a:latin typeface="Pretendard"/>
              </a:rPr>
              <a:t>발표</a:t>
            </a:r>
            <a:endParaRPr b="0" dirty="0">
              <a:solidFill>
                <a:srgbClr val="595959"/>
              </a:solidFill>
              <a:latin typeface="Pretendard"/>
            </a:endParaRPr>
          </a:p>
          <a:p>
            <a:pPr algn="l"/>
            <a:r>
              <a:rPr b="0" dirty="0" err="1">
                <a:solidFill>
                  <a:srgbClr val="595959"/>
                </a:solidFill>
                <a:latin typeface="Pretendard"/>
              </a:rPr>
              <a:t>스크립트</a:t>
            </a:r>
            <a:endParaRPr b="0" dirty="0">
              <a:solidFill>
                <a:srgbClr val="595959"/>
              </a:solidFill>
              <a:latin typeface="Pretendard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단계별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결과물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①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장르별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반응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차이</a:t>
            </a:r>
            <a:endParaRPr sz="32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RESULTS · GENRE DIFFERENCE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12801600" cy="10058400"/>
          </a:xfrm>
          <a:prstGeom prst="rect">
            <a:avLst/>
          </a:prstGeom>
          <a:solidFill>
            <a:srgbClr val="FAFBFB"/>
          </a:solidFill>
          <a:ln w="1905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722376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DBEAEB"/>
                </a:solidFill>
                <a:latin typeface="Pretendard"/>
              </a:rPr>
              <a:t>chart1_genre.png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635240"/>
            <a:ext cx="1280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BEAEB"/>
                </a:solidFill>
                <a:latin typeface="Pretendard JP SemiBold"/>
              </a:rPr>
              <a:t>[ chart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256032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장르별 핵심 수치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0" y="3200400"/>
            <a:ext cx="8229600" cy="54864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14904720" y="3383280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595959"/>
                </a:solidFill>
                <a:latin typeface="Pretendard"/>
              </a:rPr>
              <a:t>장르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0" y="3383280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>
                <a:solidFill>
                  <a:srgbClr val="595959"/>
                </a:solidFill>
                <a:latin typeface="Pretendard"/>
              </a:rPr>
              <a:t>반응률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0" y="3383280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>
                <a:solidFill>
                  <a:srgbClr val="595959"/>
                </a:solidFill>
                <a:latin typeface="Pretendard"/>
              </a:rPr>
              <a:t>유지율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0" y="3383280"/>
            <a:ext cx="15544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b="1">
                <a:solidFill>
                  <a:srgbClr val="595959"/>
                </a:solidFill>
                <a:latin typeface="Pretendard"/>
              </a:rPr>
              <a:t>이벤트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04720" y="3886200"/>
            <a:ext cx="7680960" cy="0"/>
          </a:xfrm>
          <a:prstGeom prst="line">
            <a:avLst/>
          </a:prstGeom>
          <a:ln w="9525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904720" y="3931920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0" y="39319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+0.447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68160" y="39319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22640" y="393192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>
                <a:solidFill>
                  <a:srgbClr val="595959"/>
                </a:solidFill>
                <a:latin typeface="Pretendard"/>
              </a:rPr>
              <a:t>n=9 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904720" y="4800600"/>
            <a:ext cx="7680960" cy="0"/>
          </a:xfrm>
          <a:prstGeom prst="line">
            <a:avLst/>
          </a:prstGeom>
          <a:ln w="9525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904720" y="4846320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Adventure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0" y="48463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+0.229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60" y="48463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+0.143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22640" y="484632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>
                <a:solidFill>
                  <a:srgbClr val="595959"/>
                </a:solidFill>
                <a:latin typeface="Pretendard"/>
              </a:rPr>
              <a:t>n=30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904720" y="5715000"/>
            <a:ext cx="7680960" cy="0"/>
          </a:xfrm>
          <a:prstGeom prst="line">
            <a:avLst/>
          </a:prstGeom>
          <a:ln w="9525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904720" y="5760720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Casual / Indie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13680" y="57607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+0.223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68160" y="57607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+0.184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22640" y="576072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>
                <a:solidFill>
                  <a:srgbClr val="595959"/>
                </a:solidFill>
                <a:latin typeface="Pretendard"/>
              </a:rPr>
              <a:t>n=39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904720" y="6629400"/>
            <a:ext cx="7680960" cy="0"/>
          </a:xfrm>
          <a:prstGeom prst="line">
            <a:avLst/>
          </a:prstGeom>
          <a:ln w="9525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904720" y="6675120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Strategy / 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0" y="66751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+0.166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68160" y="66751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+0.043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122640" y="667512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>
                <a:solidFill>
                  <a:srgbClr val="595959"/>
                </a:solidFill>
                <a:latin typeface="Pretendard"/>
              </a:rPr>
              <a:t>n=27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904720" y="7543800"/>
            <a:ext cx="7680960" cy="0"/>
          </a:xfrm>
          <a:prstGeom prst="line">
            <a:avLst/>
          </a:prstGeom>
          <a:ln w="9525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904720" y="7589520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RPG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013680" y="75895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+0.140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68160" y="75895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>
                <a:solidFill>
                  <a:srgbClr val="1A1A1A"/>
                </a:solidFill>
                <a:latin typeface="Pretendard"/>
              </a:rPr>
              <a:t>+0.009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122640" y="758952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>
                <a:solidFill>
                  <a:srgbClr val="595959"/>
                </a:solidFill>
                <a:latin typeface="Pretendard"/>
              </a:rPr>
              <a:t>n=27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0" y="905256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핵심 발견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0" y="9692640"/>
            <a:ext cx="8229600" cy="29260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4" name="TextBox 43"/>
          <p:cNvSpPr txBox="1"/>
          <p:nvPr/>
        </p:nvSpPr>
        <p:spPr>
          <a:xfrm>
            <a:off x="14996159" y="992124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DBEAEB"/>
                </a:solidFill>
                <a:latin typeface="Pretendard JP SemiBold"/>
              </a:rPr>
              <a:t>KEY FINDING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996159" y="10332720"/>
            <a:ext cx="77724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Pretendard"/>
              </a:rPr>
              <a:t>최고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Action(+0.447) vs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최저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RPG(+0.140)</a:t>
            </a:r>
          </a:p>
          <a:p>
            <a:pPr algn="l"/>
            <a:r>
              <a:rPr sz="2400" b="1" dirty="0">
                <a:solidFill>
                  <a:srgbClr val="FFFFFF"/>
                </a:solidFill>
                <a:latin typeface="Pretendard"/>
              </a:rPr>
              <a:t>→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격차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0.307</a:t>
            </a:r>
          </a:p>
          <a:p>
            <a:pPr algn="l"/>
            <a:endParaRPr sz="2400" b="1" dirty="0">
              <a:solidFill>
                <a:srgbClr val="FFFFFF"/>
              </a:solidFill>
              <a:latin typeface="Pretendard"/>
            </a:endParaRPr>
          </a:p>
          <a:p>
            <a:pPr algn="l"/>
            <a:r>
              <a:rPr sz="2400" b="1" dirty="0" err="1">
                <a:solidFill>
                  <a:srgbClr val="FFFFFF"/>
                </a:solidFill>
                <a:latin typeface="Pretendard"/>
              </a:rPr>
              <a:t>장르에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따라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할인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효과는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분명히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다르다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12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89E1235-1D46-2080-9838-DE56E030D28C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09" y="3434511"/>
            <a:ext cx="12509981" cy="78215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단계별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결과물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②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할인율과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반응률</a:t>
            </a:r>
            <a:endParaRPr sz="32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RESULTS · DISCOUNT vs REACTION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12801600" cy="10058400"/>
          </a:xfrm>
          <a:prstGeom prst="rect">
            <a:avLst/>
          </a:prstGeom>
          <a:solidFill>
            <a:srgbClr val="FAFBFB"/>
          </a:solidFill>
          <a:ln w="1905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722376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DBEAEB"/>
                </a:solidFill>
                <a:latin typeface="Pretendard"/>
              </a:rPr>
              <a:t>chart2_discount.png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635240"/>
            <a:ext cx="1280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BEAEB"/>
                </a:solidFill>
                <a:latin typeface="Pretendard JP SemiBold"/>
              </a:rPr>
              <a:t>[ chart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25603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10687C"/>
                </a:solidFill>
                <a:latin typeface="Pretendard"/>
              </a:rPr>
              <a:t>Spearman </a:t>
            </a:r>
            <a:r>
              <a:rPr sz="2400" b="1" dirty="0" err="1">
                <a:solidFill>
                  <a:srgbClr val="10687C"/>
                </a:solidFill>
                <a:latin typeface="Pretendard"/>
              </a:rPr>
              <a:t>상관계수</a:t>
            </a:r>
            <a:endParaRPr sz="24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0" y="3200400"/>
            <a:ext cx="8229600" cy="32004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0" y="356616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595959"/>
                </a:solidFill>
                <a:latin typeface="Pretendard JP SemiBold"/>
              </a:rPr>
              <a:t>ρ (rho)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4215008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dirty="0">
                <a:solidFill>
                  <a:srgbClr val="10687C"/>
                </a:solidFill>
                <a:latin typeface="Pretendard JP SemiBold"/>
              </a:rPr>
              <a:t>0.226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0" y="576072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595959"/>
                </a:solidFill>
                <a:latin typeface="Pretendard"/>
              </a:rPr>
              <a:t>p = 0.009  ( &lt; 0.01 )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0" y="685800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0687C"/>
                </a:solidFill>
                <a:latin typeface="Pretendard"/>
              </a:rPr>
              <a:t>해석</a:t>
            </a:r>
            <a:endParaRPr sz="24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630400" y="7498079"/>
            <a:ext cx="8229600" cy="512064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996159" y="777240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0687C"/>
                </a:solidFill>
                <a:latin typeface="Pretendard JP SemiBold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59" y="8229600"/>
            <a:ext cx="7772400" cy="3046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dirty="0" err="1">
                <a:solidFill>
                  <a:srgbClr val="1A1A1A"/>
                </a:solidFill>
                <a:latin typeface="Pretendard"/>
              </a:rPr>
              <a:t>통계적으로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유의한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양의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상관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존재</a:t>
            </a:r>
            <a:endParaRPr sz="22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200" b="0" dirty="0">
                <a:solidFill>
                  <a:srgbClr val="1A1A1A"/>
                </a:solidFill>
                <a:latin typeface="Pretendard"/>
              </a:rPr>
              <a:t>(p &lt; 0.01)</a:t>
            </a:r>
          </a:p>
          <a:p>
            <a:pPr algn="l"/>
            <a:endParaRPr sz="22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200" b="0" dirty="0" err="1">
                <a:solidFill>
                  <a:srgbClr val="1A1A1A"/>
                </a:solidFill>
                <a:latin typeface="Pretendard"/>
              </a:rPr>
              <a:t>그러나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ρ = 0.23은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매우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약한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상관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.</a:t>
            </a:r>
          </a:p>
          <a:p>
            <a:pPr algn="l"/>
            <a:r>
              <a:rPr sz="2200" b="0" dirty="0" err="1">
                <a:solidFill>
                  <a:srgbClr val="1A1A1A"/>
                </a:solidFill>
                <a:latin typeface="Pretendard"/>
              </a:rPr>
              <a:t>할인율이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반응률을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어느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정도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설명하지만</a:t>
            </a:r>
            <a:endParaRPr sz="22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200" b="0" dirty="0" err="1">
                <a:solidFill>
                  <a:srgbClr val="1A1A1A"/>
                </a:solidFill>
                <a:latin typeface="Pretendard"/>
              </a:rPr>
              <a:t>결정적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요인은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아님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.</a:t>
            </a:r>
          </a:p>
          <a:p>
            <a:pPr algn="l"/>
            <a:endParaRPr sz="22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200" b="0" dirty="0">
                <a:solidFill>
                  <a:srgbClr val="1A1A1A"/>
                </a:solidFill>
                <a:latin typeface="Pretendard"/>
              </a:rPr>
              <a:t>→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다른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요인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(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장르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·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인기도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·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할인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빈도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)이</a:t>
            </a:r>
          </a:p>
          <a:p>
            <a:pPr algn="l"/>
            <a:r>
              <a:rPr sz="2200" b="0" dirty="0">
                <a:solidFill>
                  <a:srgbClr val="1A1A1A"/>
                </a:solidFill>
                <a:latin typeface="Pretendard"/>
              </a:rPr>
              <a:t>  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함께</a:t>
            </a:r>
            <a:r>
              <a:rPr sz="22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Pretendard"/>
              </a:rPr>
              <a:t>작용한다</a:t>
            </a:r>
            <a:endParaRPr sz="2200" b="0" dirty="0">
              <a:solidFill>
                <a:srgbClr val="1A1A1A"/>
              </a:solidFill>
              <a:latin typeface="Pretendard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13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02DD423-9777-93E3-A1C3-1DEA49E51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5" y="4171986"/>
            <a:ext cx="12658163" cy="75267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단계별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결과물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③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즉시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vs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유지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효과</a:t>
            </a:r>
            <a:endParaRPr sz="32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RESULTS · IMMEDIATE vs SUSTAINED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12801600" cy="7772400"/>
          </a:xfrm>
          <a:prstGeom prst="rect">
            <a:avLst/>
          </a:prstGeom>
          <a:solidFill>
            <a:srgbClr val="FAFBFB"/>
          </a:solidFill>
          <a:ln w="1905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080759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DBEAEB"/>
                </a:solidFill>
                <a:latin typeface="Pretendard"/>
              </a:rPr>
              <a:t>chart3_keep.png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92240"/>
            <a:ext cx="1280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BEAEB"/>
                </a:solidFill>
                <a:latin typeface="Pretendard JP SemiBold"/>
              </a:rPr>
              <a:t>[ chart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256032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장르별 패턴 분류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0" y="3200400"/>
            <a:ext cx="8229600" cy="8686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3" name="Rectangle 12"/>
          <p:cNvSpPr/>
          <p:nvPr/>
        </p:nvSpPr>
        <p:spPr>
          <a:xfrm>
            <a:off x="14630400" y="3200400"/>
            <a:ext cx="91440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14904720" y="3364992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Casual/Indie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0" y="3364992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Consolas"/>
              </a:rPr>
              <a:t>+0.223 / +0.184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0" y="3364992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>
                <a:solidFill>
                  <a:srgbClr val="2E8B57"/>
                </a:solidFill>
                <a:latin typeface="Pretendard"/>
              </a:rPr>
              <a:t>지속형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0" y="4160520"/>
            <a:ext cx="8229600" cy="8686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8" name="Rectangle 17"/>
          <p:cNvSpPr/>
          <p:nvPr/>
        </p:nvSpPr>
        <p:spPr>
          <a:xfrm>
            <a:off x="14630400" y="4160520"/>
            <a:ext cx="91440" cy="8686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9" name="TextBox 18"/>
          <p:cNvSpPr txBox="1"/>
          <p:nvPr/>
        </p:nvSpPr>
        <p:spPr>
          <a:xfrm>
            <a:off x="14904720" y="4325112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Adventure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0" y="4325112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Consolas"/>
              </a:rPr>
              <a:t>+0.229 / +0.143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0" y="4325112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>
                <a:solidFill>
                  <a:srgbClr val="595959"/>
                </a:solidFill>
                <a:latin typeface="Pretendard"/>
              </a:rPr>
              <a:t>혼재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0" y="5120640"/>
            <a:ext cx="8229600" cy="8686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3" name="Rectangle 22"/>
          <p:cNvSpPr/>
          <p:nvPr/>
        </p:nvSpPr>
        <p:spPr>
          <a:xfrm>
            <a:off x="14630400" y="5120640"/>
            <a:ext cx="91440" cy="8686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4" name="TextBox 23"/>
          <p:cNvSpPr txBox="1"/>
          <p:nvPr/>
        </p:nvSpPr>
        <p:spPr>
          <a:xfrm>
            <a:off x="14904720" y="5285231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0" y="5285231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Consolas"/>
              </a:rPr>
              <a:t>+0.447 / +0.224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0" y="5285231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>
                <a:solidFill>
                  <a:srgbClr val="595959"/>
                </a:solidFill>
                <a:latin typeface="Pretendard"/>
              </a:rPr>
              <a:t>단발성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0" y="6080760"/>
            <a:ext cx="8229600" cy="8686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8" name="Rectangle 27"/>
          <p:cNvSpPr/>
          <p:nvPr/>
        </p:nvSpPr>
        <p:spPr>
          <a:xfrm>
            <a:off x="14630400" y="6080760"/>
            <a:ext cx="91440" cy="8686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29" name="TextBox 28"/>
          <p:cNvSpPr txBox="1"/>
          <p:nvPr/>
        </p:nvSpPr>
        <p:spPr>
          <a:xfrm>
            <a:off x="14904720" y="6245352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Strategy/Sim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0" y="6245352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Consolas"/>
              </a:rPr>
              <a:t>+0.166 / +0.043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0" y="6245352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>
                <a:solidFill>
                  <a:srgbClr val="595959"/>
                </a:solidFill>
                <a:latin typeface="Pretendard"/>
              </a:rPr>
              <a:t>단발성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0" y="7040880"/>
            <a:ext cx="8229600" cy="86868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33" name="Rectangle 32"/>
          <p:cNvSpPr/>
          <p:nvPr/>
        </p:nvSpPr>
        <p:spPr>
          <a:xfrm>
            <a:off x="14630400" y="7040880"/>
            <a:ext cx="91440" cy="868680"/>
          </a:xfrm>
          <a:prstGeom prst="rect">
            <a:avLst/>
          </a:prstGeom>
          <a:solidFill>
            <a:srgbClr val="D6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34" name="TextBox 33"/>
          <p:cNvSpPr txBox="1"/>
          <p:nvPr/>
        </p:nvSpPr>
        <p:spPr>
          <a:xfrm>
            <a:off x="14904720" y="7205472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RPG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0" y="7205472"/>
            <a:ext cx="2743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95959"/>
                </a:solidFill>
                <a:latin typeface="Consolas"/>
              </a:rPr>
              <a:t>+0.140 / +0.009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0" y="7205472"/>
            <a:ext cx="2194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dirty="0" err="1">
                <a:solidFill>
                  <a:srgbClr val="D64D3F"/>
                </a:solidFill>
                <a:latin typeface="Pretendard"/>
              </a:rPr>
              <a:t>극단적</a:t>
            </a:r>
            <a:r>
              <a:rPr sz="2200" b="1" dirty="0">
                <a:solidFill>
                  <a:srgbClr val="D64D3F"/>
                </a:solidFill>
                <a:latin typeface="Pretendard"/>
              </a:rPr>
              <a:t> </a:t>
            </a:r>
            <a:r>
              <a:rPr sz="2200" b="1" dirty="0" err="1">
                <a:solidFill>
                  <a:srgbClr val="D64D3F"/>
                </a:solidFill>
                <a:latin typeface="Pretendard"/>
              </a:rPr>
              <a:t>단발성</a:t>
            </a:r>
            <a:endParaRPr sz="2200" b="1" dirty="0">
              <a:solidFill>
                <a:srgbClr val="D64D3F"/>
              </a:solidFill>
              <a:latin typeface="Pretendar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65412" y="10607040"/>
            <a:ext cx="12550588" cy="2331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8" name="Rectangle 37"/>
          <p:cNvSpPr/>
          <p:nvPr/>
        </p:nvSpPr>
        <p:spPr>
          <a:xfrm>
            <a:off x="914400" y="10607040"/>
            <a:ext cx="164592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1371600" y="10835640"/>
            <a:ext cx="21031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DBEAEB"/>
                </a:solidFill>
                <a:latin typeface="Pretendard JP SemiBold"/>
              </a:rPr>
              <a:t>KEY INSIGHT  ·  </a:t>
            </a:r>
            <a:r>
              <a:rPr b="0" dirty="0" err="1">
                <a:solidFill>
                  <a:srgbClr val="DBEAEB"/>
                </a:solidFill>
                <a:latin typeface="Pretendard JP SemiBold"/>
              </a:rPr>
              <a:t>예상과</a:t>
            </a:r>
            <a:r>
              <a:rPr b="0" dirty="0">
                <a:solidFill>
                  <a:srgbClr val="DBEAEB"/>
                </a:solidFill>
                <a:latin typeface="Pretendard JP SemiBol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 JP SemiBold"/>
              </a:rPr>
              <a:t>정반대의</a:t>
            </a:r>
            <a:r>
              <a:rPr b="0" dirty="0">
                <a:solidFill>
                  <a:srgbClr val="DBEAEB"/>
                </a:solidFill>
                <a:latin typeface="Pretendard JP SemiBol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 JP SemiBold"/>
              </a:rPr>
              <a:t>결과</a:t>
            </a:r>
            <a:endParaRPr b="0" dirty="0">
              <a:solidFill>
                <a:srgbClr val="DBEAEB"/>
              </a:solidFill>
              <a:latin typeface="Pretendard JP Semi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71600" y="11292840"/>
            <a:ext cx="21031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DBEAEB"/>
                </a:solidFill>
                <a:latin typeface="Pretendard"/>
              </a:rPr>
              <a:t>가설: "스토리 중심 RPG는 할인 효과가 클 것이다"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11823551"/>
            <a:ext cx="21031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Pretendard"/>
              </a:rPr>
              <a:t>실제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RPG는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즉시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반응도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꼴찌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(+0.14),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유지율은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Pretendard"/>
              </a:rPr>
              <a:t>사실상</a:t>
            </a:r>
            <a:r>
              <a:rPr sz="2400" b="1" dirty="0">
                <a:solidFill>
                  <a:srgbClr val="FFFFFF"/>
                </a:solidFill>
                <a:latin typeface="Pretendard"/>
              </a:rPr>
              <a:t> 0(+0.009)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671" y="12427773"/>
            <a:ext cx="21031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DBEAEB"/>
                </a:solidFill>
                <a:latin typeface="Pretendard"/>
              </a:rPr>
              <a:t>→ RPG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유저는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할인할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때만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반짝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관심</a:t>
            </a:r>
            <a:r>
              <a:rPr b="0" dirty="0">
                <a:solidFill>
                  <a:srgbClr val="DBEAEB"/>
                </a:solidFill>
                <a:latin typeface="Pretendard"/>
              </a:rPr>
              <a:t>,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끝나면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즉시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식는다</a:t>
            </a:r>
            <a:r>
              <a:rPr b="0" dirty="0">
                <a:solidFill>
                  <a:srgbClr val="DBEAEB"/>
                </a:solidFill>
                <a:latin typeface="Pretendard"/>
              </a:rPr>
              <a:t>.   |   Casual/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Indie만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유일한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지속형</a:t>
            </a:r>
            <a:r>
              <a:rPr b="0" dirty="0">
                <a:solidFill>
                  <a:srgbClr val="DBEAEB"/>
                </a:solidFill>
                <a:latin typeface="Pretendard"/>
              </a:rPr>
              <a:t> </a:t>
            </a:r>
            <a:r>
              <a:rPr b="0" dirty="0" err="1">
                <a:solidFill>
                  <a:srgbClr val="DBEAEB"/>
                </a:solidFill>
                <a:latin typeface="Pretendard"/>
              </a:rPr>
              <a:t>장르</a:t>
            </a:r>
            <a:r>
              <a:rPr b="0" dirty="0">
                <a:solidFill>
                  <a:srgbClr val="DBEAEB"/>
                </a:solidFill>
                <a:latin typeface="Pretendard"/>
              </a:rPr>
              <a:t>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14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EBA004-625D-C6D9-AF0D-D220F7570E1E}"/>
              </a:ext>
            </a:extLst>
          </p:cNvPr>
          <p:cNvSpPr/>
          <p:nvPr/>
        </p:nvSpPr>
        <p:spPr>
          <a:xfrm>
            <a:off x="14630400" y="8520730"/>
            <a:ext cx="10425953" cy="6463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3826DB-CDC9-080B-B240-717B93C0A6B4}"/>
              </a:ext>
            </a:extLst>
          </p:cNvPr>
          <p:cNvSpPr/>
          <p:nvPr/>
        </p:nvSpPr>
        <p:spPr>
          <a:xfrm>
            <a:off x="17091212" y="9778256"/>
            <a:ext cx="3198158" cy="212598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3B77438-B793-7087-3F80-6E694B3E35AF}"/>
              </a:ext>
            </a:extLst>
          </p:cNvPr>
          <p:cNvSpPr/>
          <p:nvPr/>
        </p:nvSpPr>
        <p:spPr>
          <a:xfrm>
            <a:off x="19658704" y="11306263"/>
            <a:ext cx="1958788" cy="138841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B4DA9C1E-1D11-CB45-EFF7-FEA5D028C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0" y="2713627"/>
            <a:ext cx="12506777" cy="75057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단계별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결과물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④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할인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빈도와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피로도</a:t>
            </a:r>
            <a:endParaRPr sz="3200" b="1" dirty="0">
              <a:solidFill>
                <a:srgbClr val="10687C"/>
              </a:solidFill>
              <a:latin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RESULTS · DISCOUNT FATIGUE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12801600" cy="10058400"/>
          </a:xfrm>
          <a:prstGeom prst="rect">
            <a:avLst/>
          </a:prstGeom>
          <a:solidFill>
            <a:srgbClr val="FAFBFB"/>
          </a:solidFill>
          <a:ln w="1905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722376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DBEAEB"/>
                </a:solidFill>
                <a:latin typeface="Pretendard"/>
              </a:rPr>
              <a:t>chart6_frequency.png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635240"/>
            <a:ext cx="1280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BEAEB"/>
                </a:solidFill>
                <a:latin typeface="Pretendard JP SemiBold"/>
              </a:rPr>
              <a:t>[ chart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256032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그룹별 반응률 중앙값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0" y="3200400"/>
            <a:ext cx="8229600" cy="2194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96159" y="338328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595959"/>
                </a:solidFill>
                <a:latin typeface="Pretendard"/>
              </a:rPr>
              <a:t>저빈도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(2건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이하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59" y="3840480"/>
            <a:ext cx="7772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dirty="0">
                <a:solidFill>
                  <a:srgbClr val="10687C"/>
                </a:solidFill>
                <a:latin typeface="Pretendard JP SemiBold"/>
              </a:rPr>
              <a:t>+0.484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0" y="5486400"/>
            <a:ext cx="8229600" cy="219456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4996159" y="566928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595959"/>
                </a:solidFill>
                <a:latin typeface="Pretendard"/>
              </a:rPr>
              <a:t>고빈도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 (3건 </a:t>
            </a:r>
            <a:r>
              <a:rPr sz="2000" b="0" dirty="0" err="1">
                <a:solidFill>
                  <a:srgbClr val="595959"/>
                </a:solidFill>
                <a:latin typeface="Pretendard"/>
              </a:rPr>
              <a:t>이상</a:t>
            </a:r>
            <a:r>
              <a:rPr sz="2000" b="0" dirty="0">
                <a:solidFill>
                  <a:srgbClr val="595959"/>
                </a:solidFill>
                <a:latin typeface="Pretendard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59" y="6126480"/>
            <a:ext cx="7772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dirty="0">
                <a:solidFill>
                  <a:srgbClr val="595959"/>
                </a:solidFill>
                <a:latin typeface="Pretendard JP SemiBold"/>
              </a:rPr>
              <a:t>+0.147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0" y="7772400"/>
            <a:ext cx="8229600" cy="137160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14630400" y="7909560"/>
            <a:ext cx="8229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DBEAEB"/>
                </a:solidFill>
                <a:latin typeface="Pretendard JP SemiBold"/>
              </a:rPr>
              <a:t>약 3배 이상 차이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0" y="8213466"/>
            <a:ext cx="8229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Pretendard"/>
              </a:rPr>
              <a:t>Spearman ρ = −0.374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0" y="8722658"/>
            <a:ext cx="8229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DBEAEB"/>
                </a:solidFill>
                <a:latin typeface="Pretendard"/>
              </a:rPr>
              <a:t>p = 0.010  ( &lt; 0.05 )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0" y="960120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핵심 발견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0" y="10241280"/>
            <a:ext cx="8229600" cy="237744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4" name="TextBox 23"/>
          <p:cNvSpPr txBox="1"/>
          <p:nvPr/>
        </p:nvSpPr>
        <p:spPr>
          <a:xfrm>
            <a:off x="14996159" y="1042416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0687C"/>
                </a:solidFill>
                <a:latin typeface="Pretendard JP SemiBold"/>
              </a:rPr>
              <a:t>DISCOUNT FATIGUE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59" y="10728066"/>
            <a:ext cx="77724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자주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할인할수록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반응이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둔감해진다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.</a:t>
            </a:r>
          </a:p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할인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피로도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(Discount Fatigue)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가설과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일치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.</a:t>
            </a:r>
            <a:endParaRPr lang="en-US" sz="2400" b="0" dirty="0">
              <a:solidFill>
                <a:srgbClr val="1A1A1A"/>
              </a:solidFill>
              <a:latin typeface="Pretendard"/>
            </a:endParaRPr>
          </a:p>
          <a:p>
            <a:pPr algn="l"/>
            <a:endParaRPr sz="24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가끔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하는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할인이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자주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하는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할인보다</a:t>
            </a:r>
            <a:endParaRPr sz="24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400" b="0" dirty="0">
                <a:solidFill>
                  <a:srgbClr val="1A1A1A"/>
                </a:solidFill>
                <a:latin typeface="Pretendard"/>
              </a:rPr>
              <a:t>약 3배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이상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효과적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15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1E52668-8F63-869A-F5EB-AB37FAC6A96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922437"/>
            <a:ext cx="12553950" cy="69551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rgbClr val="10687C"/>
                </a:solidFill>
                <a:latin typeface="Pretendard"/>
              </a:rPr>
              <a:t>단계별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결과물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⑤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통제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변수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  <a:r>
              <a:rPr sz="3200" b="1" dirty="0" err="1">
                <a:solidFill>
                  <a:srgbClr val="10687C"/>
                </a:solidFill>
                <a:latin typeface="Pretendard"/>
              </a:rPr>
              <a:t>검증</a:t>
            </a:r>
            <a:r>
              <a:rPr sz="3200" b="1" dirty="0">
                <a:solidFill>
                  <a:srgbClr val="10687C"/>
                </a:solidFill>
                <a:latin typeface="Pretendard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RESULTS · POPULARITY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560320"/>
            <a:ext cx="12801600" cy="10058400"/>
          </a:xfrm>
          <a:prstGeom prst="rect">
            <a:avLst/>
          </a:prstGeom>
          <a:solidFill>
            <a:srgbClr val="FAFBFB"/>
          </a:solidFill>
          <a:ln w="19050">
            <a:solidFill>
              <a:srgbClr val="DB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7223760"/>
            <a:ext cx="1280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DBEAEB"/>
                </a:solidFill>
                <a:latin typeface="Pretendard"/>
              </a:rPr>
              <a:t>chart7_popularity.png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635240"/>
            <a:ext cx="1280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DBEAEB"/>
                </a:solidFill>
                <a:latin typeface="Pretendard JP SemiBold"/>
              </a:rPr>
              <a:t>[ chart placeholder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0" y="256032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검증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0" y="3200400"/>
            <a:ext cx="8229600" cy="18288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14996159" y="342900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0687C"/>
                </a:solidFill>
                <a:latin typeface="Pretendard JP SemiBold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59" y="3840480"/>
            <a:ext cx="7772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"장르 차이가 단지</a:t>
            </a:r>
          </a:p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게임 인기도 차이 때문 아닌가?"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0" y="539496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검증 방법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0" y="6035040"/>
            <a:ext cx="8229600" cy="22860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14996159" y="626364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0687C"/>
                </a:solidFill>
                <a:latin typeface="Pretendard JP SemiBold"/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59" y="6675120"/>
            <a:ext cx="77724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전체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리뷰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수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중앙값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기준</a:t>
            </a:r>
            <a:endParaRPr sz="24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고인기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/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저인기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두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그룹으로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나눠</a:t>
            </a:r>
            <a:endParaRPr sz="2400" b="0" dirty="0">
              <a:solidFill>
                <a:srgbClr val="1A1A1A"/>
              </a:solidFill>
              <a:latin typeface="Pretendard"/>
            </a:endParaRPr>
          </a:p>
          <a:p>
            <a:pPr algn="l"/>
            <a:r>
              <a:rPr sz="2400" b="0" dirty="0" err="1">
                <a:solidFill>
                  <a:srgbClr val="1A1A1A"/>
                </a:solidFill>
                <a:latin typeface="Pretendard"/>
              </a:rPr>
              <a:t>같은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장르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패턴이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유지되는지</a:t>
            </a:r>
            <a:r>
              <a:rPr sz="2400" b="0" dirty="0">
                <a:solidFill>
                  <a:srgbClr val="1A1A1A"/>
                </a:solidFill>
                <a:latin typeface="Pretendard"/>
              </a:rPr>
              <a:t> </a:t>
            </a:r>
            <a:r>
              <a:rPr sz="2400" b="0" dirty="0" err="1">
                <a:solidFill>
                  <a:srgbClr val="1A1A1A"/>
                </a:solidFill>
                <a:latin typeface="Pretendard"/>
              </a:rPr>
              <a:t>비교</a:t>
            </a:r>
            <a:endParaRPr sz="2400" b="0" dirty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0" y="868680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0" y="9326880"/>
            <a:ext cx="8229600" cy="329184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14996159" y="9555480"/>
            <a:ext cx="7772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DBEAEB"/>
                </a:solidFill>
                <a:latin typeface="Pretendard JP SemiBold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59" y="10012680"/>
            <a:ext cx="777240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인기도 그룹을 나눠도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RPG의 단발성 패턴은 유지됨.</a:t>
            </a:r>
          </a:p>
          <a:p>
            <a:pPr algn="l"/>
            <a:endParaRPr sz="2400" b="1">
              <a:solidFill>
                <a:srgbClr val="FFFFFF"/>
              </a:solidFill>
              <a:latin typeface="Pretendard"/>
            </a:endParaRPr>
          </a:p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→ RPG 결과는 인기도 차이로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   설명되지 않는다.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Pretendard"/>
              </a:rPr>
              <a:t>→ 장르 효과 자체가 존재.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16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1987D39-CC8E-B613-5278-89ECEE320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60" y="4140499"/>
            <a:ext cx="12622540" cy="66799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7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단계별 결과물 ⑥ 핵심 인사이트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KEY INSIGHTS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743200"/>
            <a:ext cx="7269480" cy="98755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7269480" cy="1371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1828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64008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할인은 모든 게임에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똑같이 통하지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64008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1371600" y="667512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장르 간 반응률 격차 0.307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7955279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(최저 RPG 0.14 vs 최고 Action 0.45)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923544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단순 할인율 상관 ρ = 0.23 (약함)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051560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→ 장르가 할인율보다 더 중요한 변수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743200"/>
            <a:ext cx="7269480" cy="98755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2743200"/>
            <a:ext cx="7269480" cy="1371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3108960"/>
            <a:ext cx="1828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754880"/>
            <a:ext cx="64008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RPG는 가장 극단적인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"단발성 장르"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64008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8778240" y="667512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즉시 반응 꼴찌(+0.14)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7955279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유지율 사실상 0(+0.009)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923544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가설("RPG 효과 클 것")과 정반대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051560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→ 콘텐츠 업데이트·DLC가 효과적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727680" y="2743200"/>
            <a:ext cx="7269480" cy="98755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727680" y="2743200"/>
            <a:ext cx="7269480" cy="13716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184880" y="3108960"/>
            <a:ext cx="1828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0" y="4754880"/>
            <a:ext cx="64008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잦은 할인은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효과를 갉아먹는다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184880" y="6400800"/>
            <a:ext cx="54864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16184880" y="667512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저빈도 +0.484 vs 고빈도 +0.147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0" y="7955279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약 3배 이상 차이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0" y="923544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ρ = −0.374 (p = 0.010)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0" y="1051560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595959"/>
                </a:solidFill>
                <a:latin typeface="Pretendard"/>
              </a:rPr>
              <a:t>·  → 할인 빈도보다 타이밍과 폭이 중요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8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한계 및 Output 활용 방안 ① 본 연구의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LIMITATIONS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본 연구의 명확한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Pretendard"/>
              </a:rPr>
              <a:t>발표 방어력 강화를 위해 명시 — 후속 연구에서 보완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7269480" cy="3931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80160" y="420624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0352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대리 지표의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98932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1280160" y="6172200"/>
            <a:ext cx="68580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리뷰 작성 수는 사용자 활동의 proxy일 뿐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실제 구매 전환·플레이타임·매출은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직접 측정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840480"/>
            <a:ext cx="7269480" cy="3931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8321040" y="384048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686800" y="420624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30352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표본 크기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598932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8686800" y="6172200"/>
            <a:ext cx="68580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50개 게임 / 132 유효 이벤트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(수집 692건 중 560건 제외)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→ 탐색적 비교 분석 성격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27680" y="3840480"/>
            <a:ext cx="7269480" cy="3931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15727680" y="384048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6093439" y="420624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93439" y="530352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Action 표본 편중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93439" y="598932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16093439" y="6172200"/>
            <a:ext cx="68580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9건으로 다른 장르(27~39건) 대비 적음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→ Action 결과는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탐색적 해석에 한정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3998" y="8046720"/>
            <a:ext cx="7269480" cy="3931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ectangle 28"/>
          <p:cNvSpPr/>
          <p:nvPr/>
        </p:nvSpPr>
        <p:spPr>
          <a:xfrm>
            <a:off x="4333998" y="804672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4699758" y="841248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9758" y="950976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통제의 불완전성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99758" y="101955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4699758" y="10378440"/>
            <a:ext cx="6858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패치·업데이트·스트리머 방송 등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외부 이벤트는 부분적으로만 고려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740638" y="8046720"/>
            <a:ext cx="7269480" cy="39319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Rectangle 34"/>
          <p:cNvSpPr/>
          <p:nvPr/>
        </p:nvSpPr>
        <p:spPr>
          <a:xfrm>
            <a:off x="11740638" y="8046720"/>
            <a:ext cx="726948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TextBox 35"/>
          <p:cNvSpPr txBox="1"/>
          <p:nvPr/>
        </p:nvSpPr>
        <p:spPr>
          <a:xfrm>
            <a:off x="12106398" y="8412480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0687C"/>
                </a:solidFill>
                <a:latin typeface="Pretendard JP SemiBold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06398" y="9509760"/>
            <a:ext cx="685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분석 범위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06398" y="10195560"/>
            <a:ext cx="457200" cy="36576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12106398" y="10378440"/>
            <a:ext cx="68580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F2P 게임은 본편 가격 $0으로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할인율 계산 불가하여 제외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→ 유료 게임 시장에 한정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868680" cy="86868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41856"/>
            <a:ext cx="868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Pretendard JP SemiBold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Pretendard JP SemiBold"/>
              </a:rPr>
              <a:t>8</a:t>
            </a:r>
            <a:endParaRPr sz="2800" b="1" dirty="0">
              <a:solidFill>
                <a:srgbClr val="FFFFFF"/>
              </a:solidFill>
              <a:latin typeface="Pretendard JP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868680"/>
            <a:ext cx="2011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687C"/>
                </a:solidFill>
                <a:latin typeface="Pretendard"/>
              </a:rPr>
              <a:t>한계 및 Output 활용 방안 ② 활용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417320"/>
            <a:ext cx="2011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Pretendard"/>
              </a:rPr>
              <a:t>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57400"/>
            <a:ext cx="22585680" cy="0"/>
          </a:xfrm>
          <a:prstGeom prst="line">
            <a:avLst/>
          </a:prstGeom>
          <a:ln w="31750">
            <a:solidFill>
              <a:srgbClr val="10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560320"/>
            <a:ext cx="2194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0687C"/>
                </a:solidFill>
                <a:latin typeface="Pretendard"/>
              </a:rPr>
              <a:t>본 분석 결과의 활용 가능 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5349240" cy="94183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80160" y="3520440"/>
            <a:ext cx="1828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0687C"/>
                </a:solidFill>
                <a:latin typeface="Pretendard JP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게임사 · 퍼블리셔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534924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1280160" y="5532120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장르별 차등 할인 전략 수립의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정량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731520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"RPG는 할인보다 콘텐츠 업데이트"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859536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"Casual은 할인 마케팅 효과 큼"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987552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의사결정 자료로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5349240" cy="94183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766560" y="3520440"/>
            <a:ext cx="1828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0687C"/>
                </a:solidFill>
                <a:latin typeface="Pretendard JP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7200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인디 개발자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534924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6766560" y="5532120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할인 빈도와 타이밍의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데이터 기반 권고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731520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무조건 큰 할인보다 빈도 조절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859536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할인 피로도 고려한 연간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987552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소규모 팀 자원 활용 가이드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0" y="3200400"/>
            <a:ext cx="5349240" cy="94183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887200" y="320040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12252960" y="3520440"/>
            <a:ext cx="1828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0687C"/>
                </a:solidFill>
                <a:latin typeface="Pretendard JP Semi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0" y="457200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게임 마케팅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52960" y="534924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12252960" y="5532120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가격 정책 ↔ 사용자 반응의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데이터 기반 사례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0" y="731520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"단발 vs 지속" 분류 프레임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0" y="859536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통제 변수 분석 방법론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0" y="987552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후속 연구의 출발점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0" y="3200400"/>
            <a:ext cx="5349240" cy="941832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7373600" y="3200400"/>
            <a:ext cx="5349240" cy="109728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17739360" y="3520440"/>
            <a:ext cx="18288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0687C"/>
                </a:solidFill>
                <a:latin typeface="Pretendard JP SemiBol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39360" y="457200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retendard"/>
              </a:rPr>
              <a:t>확장 가능성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739360" y="5349240"/>
            <a:ext cx="457200" cy="4572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17739360" y="5532120"/>
            <a:ext cx="50292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"다음 할인 효과 예측"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Pretendard"/>
              </a:rPr>
              <a:t>모델로 발전 가능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0" y="731520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동시 접속자 시계열 결합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9360" y="859536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매출·전환율 데이터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9360" y="987552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retendard"/>
              </a:rPr>
              <a:t>·  본격 마케팅 도구화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14400" y="13075920"/>
            <a:ext cx="22585680" cy="0"/>
          </a:xfrm>
          <a:prstGeom prst="line">
            <a:avLst/>
          </a:prstGeom>
          <a:ln w="12700">
            <a:solidFill>
              <a:srgbClr val="DBE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13167360"/>
            <a:ext cx="1828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</a:rPr>
              <a:t>Steam 할인 패턴 분석  ·  장르별 할인 효과 차이 연구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585680" y="131673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0687C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106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1371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2286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chemeClr val="accent5">
                    <a:lumMod val="75000"/>
                  </a:schemeClr>
                </a:solidFill>
                <a:latin typeface="Pretendard JP SemiBold"/>
              </a:rPr>
              <a:t>STEAM DISCOUNT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22860000" cy="3108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00" b="1" dirty="0">
                <a:solidFill>
                  <a:schemeClr val="accent5">
                    <a:lumMod val="75000"/>
                  </a:schemeClr>
                </a:solidFill>
                <a:latin typeface="Pretendard JP SemiBold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8961120"/>
            <a:ext cx="5486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14400" y="9144000"/>
            <a:ext cx="2286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dirty="0" err="1">
                <a:solidFill>
                  <a:schemeClr val="accent5">
                    <a:lumMod val="75000"/>
                  </a:schemeClr>
                </a:solidFill>
                <a:latin typeface="Pretendard"/>
              </a:rPr>
              <a:t>발표를</a:t>
            </a:r>
            <a:r>
              <a:rPr sz="3200" b="0" dirty="0">
                <a:solidFill>
                  <a:schemeClr val="accent5">
                    <a:lumMod val="75000"/>
                  </a:schemeClr>
                </a:solidFill>
                <a:latin typeface="Pretendard"/>
              </a:rPr>
              <a:t> </a:t>
            </a:r>
            <a:r>
              <a:rPr sz="3200" b="0" dirty="0" err="1">
                <a:solidFill>
                  <a:schemeClr val="accent5">
                    <a:lumMod val="75000"/>
                  </a:schemeClr>
                </a:solidFill>
                <a:latin typeface="Pretendard"/>
              </a:rPr>
              <a:t>들어주셔서</a:t>
            </a:r>
            <a:r>
              <a:rPr sz="3200" b="0" dirty="0">
                <a:solidFill>
                  <a:schemeClr val="accent5">
                    <a:lumMod val="75000"/>
                  </a:schemeClr>
                </a:solidFill>
                <a:latin typeface="Pretendard"/>
              </a:rPr>
              <a:t> </a:t>
            </a:r>
            <a:r>
              <a:rPr sz="3200" b="0" dirty="0" err="1">
                <a:solidFill>
                  <a:schemeClr val="accent5">
                    <a:lumMod val="75000"/>
                  </a:schemeClr>
                </a:solidFill>
                <a:latin typeface="Pretendard"/>
              </a:rPr>
              <a:t>감사합니다</a:t>
            </a:r>
            <a:r>
              <a:rPr sz="3200" b="0" dirty="0">
                <a:solidFill>
                  <a:schemeClr val="accent5">
                    <a:lumMod val="75000"/>
                  </a:schemeClr>
                </a:solidFill>
                <a:latin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430000"/>
            <a:ext cx="22860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Pretendard JP SemiBold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0"/>
            <a:ext cx="2286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chemeClr val="accent5">
                    <a:lumMod val="75000"/>
                  </a:schemeClr>
                </a:solidFill>
                <a:latin typeface="Pretendard"/>
              </a:rPr>
              <a:t>GitHub  ·  github.com/LEE-SEUNG-YEOB/</a:t>
            </a:r>
            <a:r>
              <a:rPr b="0" dirty="0" err="1">
                <a:solidFill>
                  <a:schemeClr val="accent5">
                    <a:lumMod val="75000"/>
                  </a:schemeClr>
                </a:solidFill>
                <a:latin typeface="Pretendard"/>
              </a:rPr>
              <a:t>steam_discount_analysis</a:t>
            </a:r>
            <a:endParaRPr b="0" dirty="0">
              <a:solidFill>
                <a:schemeClr val="accent5">
                  <a:lumMod val="75000"/>
                </a:schemeClr>
              </a:solidFill>
              <a:latin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2265</Words>
  <Application>Microsoft Office PowerPoint</Application>
  <PresentationFormat>사용자 지정</PresentationFormat>
  <Paragraphs>576</Paragraphs>
  <Slides>20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Pretendard</vt:lpstr>
      <vt:lpstr>Pretendard JP SemiBold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승엽 이</cp:lastModifiedBy>
  <cp:revision>48</cp:revision>
  <dcterms:created xsi:type="dcterms:W3CDTF">2013-01-27T09:14:16Z</dcterms:created>
  <dcterms:modified xsi:type="dcterms:W3CDTF">2026-04-13T15:36:15Z</dcterms:modified>
  <cp:category/>
</cp:coreProperties>
</file>